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4" r:id="rId4"/>
    <p:sldId id="265" r:id="rId5"/>
    <p:sldId id="259" r:id="rId6"/>
    <p:sldId id="260" r:id="rId7"/>
    <p:sldId id="266" r:id="rId8"/>
    <p:sldId id="267" r:id="rId9"/>
    <p:sldId id="268" r:id="rId10"/>
    <p:sldId id="261" r:id="rId11"/>
    <p:sldId id="262" r:id="rId12"/>
    <p:sldId id="269"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1464"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01775"/>
            <a:ext cx="7772400" cy="1470025"/>
          </a:xfrm>
        </p:spPr>
        <p:txBody>
          <a:bodyPr>
            <a:noAutofit/>
          </a:bodyPr>
          <a:lstStyle/>
          <a:p>
            <a:r>
              <a:rPr lang="en-IN" sz="3200" b="1" dirty="0" err="1">
                <a:latin typeface="Algerian" panose="04020705040A02060702" pitchFamily="82" charset="0"/>
              </a:rPr>
              <a:t>Arduino</a:t>
            </a:r>
            <a:r>
              <a:rPr lang="en-IN" sz="3200" b="1" dirty="0">
                <a:latin typeface="Algerian" panose="04020705040A02060702" pitchFamily="82" charset="0"/>
              </a:rPr>
              <a:t>-Based Multi-Sensor Hazard Monitoring and Early Warning Unit</a:t>
            </a:r>
            <a:r>
              <a:rPr lang="en-US" sz="3200" dirty="0">
                <a:latin typeface="Algerian" panose="04020705040A02060702" pitchFamily="82" charset="0"/>
              </a:rPr>
              <a:t/>
            </a:r>
            <a:br>
              <a:rPr lang="en-US" sz="3200" dirty="0">
                <a:latin typeface="Algerian" panose="04020705040A02060702" pitchFamily="82" charset="0"/>
              </a:rPr>
            </a:br>
            <a:endParaRPr sz="3200" dirty="0">
              <a:solidFill>
                <a:srgbClr val="002060"/>
              </a:solidFill>
              <a:latin typeface="Algerian" panose="04020705040A02060702" pitchFamily="82" charset="0"/>
            </a:endParaRPr>
          </a:p>
        </p:txBody>
      </p:sp>
      <p:sp>
        <p:nvSpPr>
          <p:cNvPr id="3" name="Subtitle 2"/>
          <p:cNvSpPr>
            <a:spLocks noGrp="1"/>
          </p:cNvSpPr>
          <p:nvPr>
            <p:ph type="subTitle" idx="1"/>
          </p:nvPr>
        </p:nvSpPr>
        <p:spPr>
          <a:xfrm>
            <a:off x="1371600" y="2971800"/>
            <a:ext cx="6400800" cy="1752600"/>
          </a:xfrm>
        </p:spPr>
        <p:txBody>
          <a:bodyPr>
            <a:normAutofit fontScale="47500" lnSpcReduction="20000"/>
          </a:bodyPr>
          <a:lstStyle/>
          <a:p>
            <a:r>
              <a:rPr dirty="0">
                <a:solidFill>
                  <a:srgbClr val="002060"/>
                </a:solidFill>
                <a:latin typeface="Arial Black" panose="020B0A04020102020204" pitchFamily="34" charset="0"/>
              </a:rPr>
              <a:t>Students: </a:t>
            </a:r>
            <a:endParaRPr lang="en-US" dirty="0" smtClean="0">
              <a:solidFill>
                <a:srgbClr val="002060"/>
              </a:solidFill>
              <a:latin typeface="Arial Black" panose="020B0A04020102020204" pitchFamily="34" charset="0"/>
            </a:endParaRPr>
          </a:p>
          <a:p>
            <a:r>
              <a:rPr lang="en-US" dirty="0" smtClean="0">
                <a:solidFill>
                  <a:srgbClr val="002060"/>
                </a:solidFill>
                <a:latin typeface="Arial Black" panose="020B0A04020102020204" pitchFamily="34" charset="0"/>
              </a:rPr>
              <a:t>   1.Ankith Joshi [RVCE25BAS051]</a:t>
            </a:r>
          </a:p>
          <a:p>
            <a:r>
              <a:rPr lang="en-US" dirty="0" smtClean="0">
                <a:solidFill>
                  <a:srgbClr val="002060"/>
                </a:solidFill>
                <a:latin typeface="Arial Black" panose="020B0A04020102020204" pitchFamily="34" charset="0"/>
              </a:rPr>
              <a:t>1.Shreyas M </a:t>
            </a:r>
            <a:r>
              <a:rPr lang="en-US" dirty="0">
                <a:solidFill>
                  <a:srgbClr val="002060"/>
                </a:solidFill>
                <a:latin typeface="Arial Black" panose="020B0A04020102020204" pitchFamily="34" charset="0"/>
              </a:rPr>
              <a:t>[</a:t>
            </a:r>
            <a:r>
              <a:rPr lang="en-US" dirty="0" smtClean="0">
                <a:solidFill>
                  <a:srgbClr val="002060"/>
                </a:solidFill>
                <a:latin typeface="Arial Black" panose="020B0A04020102020204" pitchFamily="34" charset="0"/>
              </a:rPr>
              <a:t>RVCE25BAS058]</a:t>
            </a:r>
            <a:endParaRPr lang="en-US" dirty="0">
              <a:solidFill>
                <a:srgbClr val="002060"/>
              </a:solidFill>
              <a:latin typeface="Arial Black" panose="020B0A04020102020204" pitchFamily="34" charset="0"/>
            </a:endParaRPr>
          </a:p>
          <a:p>
            <a:r>
              <a:rPr lang="en-US" dirty="0" smtClean="0">
                <a:solidFill>
                  <a:srgbClr val="002060"/>
                </a:solidFill>
                <a:latin typeface="Arial Black" panose="020B0A04020102020204" pitchFamily="34" charset="0"/>
              </a:rPr>
              <a:t>        1.Ramanujan A K </a:t>
            </a:r>
            <a:r>
              <a:rPr lang="en-US" dirty="0">
                <a:solidFill>
                  <a:srgbClr val="002060"/>
                </a:solidFill>
                <a:latin typeface="Arial Black" panose="020B0A04020102020204" pitchFamily="34" charset="0"/>
              </a:rPr>
              <a:t>[</a:t>
            </a:r>
            <a:r>
              <a:rPr lang="en-US" dirty="0" smtClean="0">
                <a:solidFill>
                  <a:srgbClr val="002060"/>
                </a:solidFill>
                <a:latin typeface="Arial Black" panose="020B0A04020102020204" pitchFamily="34" charset="0"/>
              </a:rPr>
              <a:t>RVCE25BAS0]</a:t>
            </a:r>
            <a:endParaRPr lang="en-US" dirty="0">
              <a:solidFill>
                <a:srgbClr val="002060"/>
              </a:solidFill>
              <a:latin typeface="Arial Black" panose="020B0A04020102020204" pitchFamily="34" charset="0"/>
            </a:endParaRPr>
          </a:p>
          <a:p>
            <a:r>
              <a:rPr lang="en-US" dirty="0" smtClean="0">
                <a:solidFill>
                  <a:srgbClr val="002060"/>
                </a:solidFill>
                <a:latin typeface="Arial Black" panose="020B0A04020102020204" pitchFamily="34" charset="0"/>
              </a:rPr>
              <a:t> 1.Mithun V Y </a:t>
            </a:r>
            <a:r>
              <a:rPr lang="en-US" dirty="0">
                <a:solidFill>
                  <a:srgbClr val="002060"/>
                </a:solidFill>
                <a:latin typeface="Arial Black" panose="020B0A04020102020204" pitchFamily="34" charset="0"/>
              </a:rPr>
              <a:t>[</a:t>
            </a:r>
            <a:r>
              <a:rPr lang="en-US" dirty="0" smtClean="0">
                <a:solidFill>
                  <a:srgbClr val="002060"/>
                </a:solidFill>
                <a:latin typeface="Arial Black" panose="020B0A04020102020204" pitchFamily="34" charset="0"/>
              </a:rPr>
              <a:t>RVCE25BAS0]</a:t>
            </a:r>
            <a:endParaRPr lang="en-US" dirty="0" smtClean="0">
              <a:solidFill>
                <a:srgbClr val="002060"/>
              </a:solidFill>
              <a:latin typeface="Arial Black" panose="020B0A04020102020204" pitchFamily="34" charset="0"/>
            </a:endParaRPr>
          </a:p>
          <a:p>
            <a:r>
              <a:rPr dirty="0" smtClean="0">
                <a:solidFill>
                  <a:srgbClr val="002060"/>
                </a:solidFill>
                <a:latin typeface="Arial Black" panose="020B0A04020102020204" pitchFamily="34" charset="0"/>
              </a:rPr>
              <a:t>Mentor</a:t>
            </a:r>
            <a:r>
              <a:rPr dirty="0">
                <a:solidFill>
                  <a:srgbClr val="002060"/>
                </a:solidFill>
                <a:latin typeface="Arial Black" panose="020B0A04020102020204" pitchFamily="34" charset="0"/>
              </a:rPr>
              <a:t>: Dr. </a:t>
            </a:r>
            <a:r>
              <a:rPr lang="en-US" dirty="0" err="1" smtClean="0">
                <a:solidFill>
                  <a:srgbClr val="002060"/>
                </a:solidFill>
                <a:latin typeface="Arial Black" panose="020B0A04020102020204" pitchFamily="34" charset="0"/>
              </a:rPr>
              <a:t>Roopa</a:t>
            </a:r>
            <a:endParaRPr dirty="0">
              <a:solidFill>
                <a:srgbClr val="002060"/>
              </a:solidFill>
              <a:latin typeface="Arial Black" panose="020B0A04020102020204" pitchFamily="34" charset="0"/>
            </a:endParaRPr>
          </a:p>
          <a:p>
            <a:r>
              <a:rPr dirty="0">
                <a:solidFill>
                  <a:srgbClr val="002060"/>
                </a:solidFill>
                <a:latin typeface="Arial Black" panose="020B0A04020102020204" pitchFamily="34" charset="0"/>
              </a:rPr>
              <a:t>RV College of Engineering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5850"/>
            <a:ext cx="8229600" cy="1143000"/>
          </a:xfrm>
        </p:spPr>
        <p:txBody>
          <a:bodyPr vert="horz" lIns="91440" tIns="45720" rIns="91440" bIns="45720" rtlCol="0" anchor="ctr">
            <a:normAutofit/>
          </a:bodyPr>
          <a:lstStyle/>
          <a:p>
            <a:r>
              <a:rPr dirty="0" smtClean="0">
                <a:solidFill>
                  <a:srgbClr val="002060"/>
                </a:solidFill>
                <a:latin typeface="Arial Black" panose="020B0A04020102020204" pitchFamily="34" charset="0"/>
              </a:rPr>
              <a:t> </a:t>
            </a:r>
            <a:r>
              <a:rPr dirty="0">
                <a:solidFill>
                  <a:srgbClr val="002060"/>
                </a:solidFill>
                <a:latin typeface="Arial Black" panose="020B0A04020102020204" pitchFamily="34" charset="0"/>
              </a:rPr>
              <a:t>Introduction</a:t>
            </a:r>
          </a:p>
        </p:txBody>
      </p:sp>
      <p:sp>
        <p:nvSpPr>
          <p:cNvPr id="3" name="Content Placeholder 2"/>
          <p:cNvSpPr>
            <a:spLocks noGrp="1"/>
          </p:cNvSpPr>
          <p:nvPr>
            <p:ph idx="1"/>
          </p:nvPr>
        </p:nvSpPr>
        <p:spPr>
          <a:xfrm>
            <a:off x="457200" y="2228850"/>
            <a:ext cx="8229600" cy="4525963"/>
          </a:xfrm>
        </p:spPr>
        <p:txBody>
          <a:bodyPr>
            <a:normAutofit fontScale="92500" lnSpcReduction="10000"/>
          </a:bodyPr>
          <a:lstStyle/>
          <a:p>
            <a:r>
              <a:rPr lang="en-IN" dirty="0">
                <a:latin typeface="Bell MT" panose="02020503060305020303" pitchFamily="18" charset="0"/>
              </a:rPr>
              <a:t>Disasters such as fire accidents, toxic gas leakage, flooding, and unexpected structural vibrations continue to pose major risks in both domestic and industrial environments. These hazards often occur without warning and can escalate rapidly, causing significant damage to property and endangering human life. In many houses, small scale </a:t>
            </a:r>
            <a:r>
              <a:rPr lang="en-IN" dirty="0" err="1">
                <a:latin typeface="Bell MT" panose="02020503060305020303" pitchFamily="18" charset="0"/>
              </a:rPr>
              <a:t>industries,labs,workshops</a:t>
            </a:r>
            <a:r>
              <a:rPr lang="en-IN" dirty="0">
                <a:latin typeface="Bell MT" panose="02020503060305020303" pitchFamily="18" charset="0"/>
              </a:rPr>
              <a:t> and storage units the safety systems are rather outdated or only designed to handle single type of hazards</a:t>
            </a:r>
            <a:endParaRPr lang="en-US" b="1" dirty="0">
              <a:latin typeface="Bell MT" panose="02020503060305020303" pitchFamily="18" charset="0"/>
            </a:endParaRPr>
          </a:p>
          <a:p>
            <a:endParaRPr dirty="0">
              <a:latin typeface="Bell MT" panose="0202050306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5850"/>
            <a:ext cx="8229600" cy="1143000"/>
          </a:xfrm>
        </p:spPr>
        <p:txBody>
          <a:bodyPr vert="horz" lIns="91440" tIns="45720" rIns="91440" bIns="45720" rtlCol="0" anchor="ctr">
            <a:normAutofit/>
          </a:bodyPr>
          <a:lstStyle/>
          <a:p>
            <a:r>
              <a:rPr dirty="0" smtClean="0">
                <a:solidFill>
                  <a:srgbClr val="002060"/>
                </a:solidFill>
                <a:latin typeface="Arial Black" panose="020B0A04020102020204" pitchFamily="34" charset="0"/>
              </a:rPr>
              <a:t> Introduction</a:t>
            </a:r>
            <a:r>
              <a:rPr lang="en-US" dirty="0" smtClean="0">
                <a:solidFill>
                  <a:srgbClr val="002060"/>
                </a:solidFill>
                <a:latin typeface="Arial Black" panose="020B0A04020102020204" pitchFamily="34" charset="0"/>
              </a:rPr>
              <a:t>[Motivation]</a:t>
            </a:r>
            <a:endParaRPr dirty="0">
              <a:solidFill>
                <a:srgbClr val="002060"/>
              </a:solidFill>
              <a:latin typeface="Arial Black" panose="020B0A04020102020204" pitchFamily="34" charset="0"/>
            </a:endParaRPr>
          </a:p>
        </p:txBody>
      </p:sp>
      <p:sp>
        <p:nvSpPr>
          <p:cNvPr id="3" name="Content Placeholder 2"/>
          <p:cNvSpPr>
            <a:spLocks noGrp="1"/>
          </p:cNvSpPr>
          <p:nvPr>
            <p:ph idx="1"/>
          </p:nvPr>
        </p:nvSpPr>
        <p:spPr>
          <a:xfrm>
            <a:off x="457200" y="2228850"/>
            <a:ext cx="8229600" cy="4525963"/>
          </a:xfrm>
        </p:spPr>
        <p:txBody>
          <a:bodyPr>
            <a:normAutofit fontScale="85000" lnSpcReduction="10000"/>
          </a:bodyPr>
          <a:lstStyle/>
          <a:p>
            <a:r>
              <a:rPr lang="en-IN" dirty="0">
                <a:latin typeface="Bell MT" panose="02020503060305020303" pitchFamily="18" charset="0"/>
              </a:rPr>
              <a:t>The increasing accessibility of embedded systems and open-source hardware has created new opportunities to develop affordable, multi-functional safety devices. Microcontrollers like </a:t>
            </a:r>
            <a:r>
              <a:rPr lang="en-IN" dirty="0" err="1">
                <a:latin typeface="Bell MT" panose="02020503060305020303" pitchFamily="18" charset="0"/>
              </a:rPr>
              <a:t>Arduino</a:t>
            </a:r>
            <a:r>
              <a:rPr lang="en-IN" dirty="0">
                <a:latin typeface="Bell MT" panose="02020503060305020303" pitchFamily="18" charset="0"/>
              </a:rPr>
              <a:t> allow seamless integration of various sensors, enabling real-time monitoring of environmental conditions. By combining multiple detection mechanisms into a single, unified system, it becomes possible to provide faster alerts and reduce dependency on multiple standalone devices.</a:t>
            </a:r>
            <a:endParaRPr lang="en-US" b="1" dirty="0">
              <a:latin typeface="Bell MT" panose="02020503060305020303" pitchFamily="18" charset="0"/>
            </a:endParaRPr>
          </a:p>
          <a:p>
            <a:pPr marL="0" indent="0">
              <a:buNone/>
            </a:pPr>
            <a:r>
              <a:rPr lang="en-IN" dirty="0">
                <a:latin typeface="Bell MT" panose="02020503060305020303" pitchFamily="18" charset="0"/>
              </a:rPr>
              <a:t> </a:t>
            </a:r>
            <a:endParaRPr lang="en-US" b="1" dirty="0">
              <a:latin typeface="Bell MT" panose="02020503060305020303" pitchFamily="18" charset="0"/>
            </a:endParaRPr>
          </a:p>
          <a:p>
            <a:pPr marL="457200" lvl="1" indent="0">
              <a:buNone/>
            </a:pPr>
            <a:endParaRPr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extLst>
      <p:ext uri="{BB962C8B-B14F-4D97-AF65-F5344CB8AC3E}">
        <p14:creationId xmlns:p14="http://schemas.microsoft.com/office/powerpoint/2010/main" val="4120679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85850"/>
            <a:ext cx="8229600" cy="1143000"/>
          </a:xfrm>
        </p:spPr>
        <p:txBody>
          <a:bodyPr vert="horz" lIns="91440" tIns="45720" rIns="91440" bIns="45720" rtlCol="0" anchor="ctr">
            <a:normAutofit/>
          </a:bodyPr>
          <a:lstStyle/>
          <a:p>
            <a:r>
              <a:rPr lang="en-US" dirty="0" smtClean="0">
                <a:solidFill>
                  <a:srgbClr val="002060"/>
                </a:solidFill>
                <a:latin typeface="Arial Black" panose="020B0A04020102020204" pitchFamily="34" charset="0"/>
              </a:rPr>
              <a:t>Objectives</a:t>
            </a:r>
            <a:endParaRPr dirty="0">
              <a:solidFill>
                <a:srgbClr val="002060"/>
              </a:solidFill>
              <a:latin typeface="Arial Black" panose="020B0A04020102020204" pitchFamily="34" charset="0"/>
            </a:endParaRPr>
          </a:p>
        </p:txBody>
      </p:sp>
      <p:sp>
        <p:nvSpPr>
          <p:cNvPr id="3" name="Content Placeholder 2"/>
          <p:cNvSpPr>
            <a:spLocks noGrp="1"/>
          </p:cNvSpPr>
          <p:nvPr>
            <p:ph idx="1"/>
          </p:nvPr>
        </p:nvSpPr>
        <p:spPr>
          <a:xfrm>
            <a:off x="457200" y="2228850"/>
            <a:ext cx="8229600" cy="4525963"/>
          </a:xfrm>
        </p:spPr>
        <p:txBody>
          <a:bodyPr/>
          <a:lstStyle/>
          <a:p>
            <a:r>
              <a:rPr lang="en-IN" dirty="0">
                <a:latin typeface="Bell MT" panose="02020503060305020303" pitchFamily="18" charset="0"/>
              </a:rPr>
              <a:t>This project aims to design and implement an </a:t>
            </a:r>
            <a:r>
              <a:rPr lang="en-IN" dirty="0" err="1">
                <a:latin typeface="Bell MT" panose="02020503060305020303" pitchFamily="18" charset="0"/>
              </a:rPr>
              <a:t>Arduino</a:t>
            </a:r>
            <a:r>
              <a:rPr lang="en-IN" dirty="0">
                <a:latin typeface="Bell MT" panose="02020503060305020303" pitchFamily="18" charset="0"/>
              </a:rPr>
              <a:t>-based Multi-Hazard Early Warning and Alert System that can simultaneously detect fire, hazardous gases, rising water levels, and abnormal vibrations. </a:t>
            </a:r>
            <a:endParaRPr lang="en-IN" dirty="0" smtClean="0">
              <a:latin typeface="Bell MT" panose="02020503060305020303" pitchFamily="18" charset="0"/>
            </a:endParaRPr>
          </a:p>
          <a:p>
            <a:r>
              <a:rPr lang="en-IN" dirty="0" smtClean="0">
                <a:latin typeface="Bell MT" panose="02020503060305020303" pitchFamily="18" charset="0"/>
              </a:rPr>
              <a:t>The </a:t>
            </a:r>
            <a:r>
              <a:rPr lang="en-IN" dirty="0">
                <a:latin typeface="Bell MT" panose="02020503060305020303" pitchFamily="18" charset="0"/>
              </a:rPr>
              <a:t>system incorporates dedicated sensors for each hazard and provides instant alerts through visual indicators and audible alarms</a:t>
            </a:r>
            <a:endParaRPr lang="en-US" b="1" dirty="0">
              <a:latin typeface="Bell MT" panose="02020503060305020303" pitchFamily="18" charset="0"/>
            </a:endParaRPr>
          </a:p>
          <a:p>
            <a:endParaRPr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extLst>
      <p:ext uri="{BB962C8B-B14F-4D97-AF65-F5344CB8AC3E}">
        <p14:creationId xmlns:p14="http://schemas.microsoft.com/office/powerpoint/2010/main" val="3532801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sp>
        <p:nvSpPr>
          <p:cNvPr id="2" name="Title 1"/>
          <p:cNvSpPr>
            <a:spLocks noGrp="1"/>
          </p:cNvSpPr>
          <p:nvPr>
            <p:ph type="title"/>
          </p:nvPr>
        </p:nvSpPr>
        <p:spPr>
          <a:xfrm>
            <a:off x="457200" y="821425"/>
            <a:ext cx="8229600" cy="1143000"/>
          </a:xfrm>
        </p:spPr>
        <p:txBody>
          <a:bodyPr vert="horz" lIns="91440" tIns="45720" rIns="91440" bIns="45720" rtlCol="0" anchor="ctr">
            <a:normAutofit/>
          </a:bodyPr>
          <a:lstStyle/>
          <a:p>
            <a:r>
              <a:rPr dirty="0">
                <a:solidFill>
                  <a:srgbClr val="002060"/>
                </a:solidFill>
                <a:latin typeface="Arial Black" panose="020B0A04020102020204" pitchFamily="34" charset="0"/>
              </a:rPr>
              <a:t>Methodology</a:t>
            </a:r>
          </a:p>
        </p:txBody>
      </p:sp>
      <p:sp>
        <p:nvSpPr>
          <p:cNvPr id="3" name="Content Placeholder 2"/>
          <p:cNvSpPr>
            <a:spLocks noGrp="1"/>
          </p:cNvSpPr>
          <p:nvPr>
            <p:ph idx="1"/>
          </p:nvPr>
        </p:nvSpPr>
        <p:spPr>
          <a:xfrm>
            <a:off x="457200" y="1985962"/>
            <a:ext cx="8229600" cy="4525963"/>
          </a:xfrm>
        </p:spPr>
        <p:txBody>
          <a:bodyPr>
            <a:normAutofit fontScale="47500" lnSpcReduction="20000"/>
          </a:bodyPr>
          <a:lstStyle/>
          <a:p>
            <a:r>
              <a:rPr lang="en-IN" sz="4200" b="1" dirty="0" smtClean="0">
                <a:solidFill>
                  <a:srgbClr val="FF0000"/>
                </a:solidFill>
                <a:latin typeface="Bell MT" panose="02020503060305020303" pitchFamily="18" charset="0"/>
              </a:rPr>
              <a:t>Water </a:t>
            </a:r>
            <a:r>
              <a:rPr lang="en-IN" sz="4200" b="1" dirty="0">
                <a:solidFill>
                  <a:srgbClr val="FF0000"/>
                </a:solidFill>
                <a:latin typeface="Bell MT" panose="02020503060305020303" pitchFamily="18" charset="0"/>
              </a:rPr>
              <a:t>Level Detection</a:t>
            </a:r>
            <a:endParaRPr lang="en-US" sz="4200" dirty="0">
              <a:solidFill>
                <a:srgbClr val="FF0000"/>
              </a:solidFill>
              <a:latin typeface="Bell MT" panose="02020503060305020303" pitchFamily="18" charset="0"/>
            </a:endParaRPr>
          </a:p>
          <a:p>
            <a:r>
              <a:rPr lang="en-IN" sz="4200" dirty="0">
                <a:latin typeface="Bell MT" panose="02020503060305020303" pitchFamily="18" charset="0"/>
              </a:rPr>
              <a:t>Water levels in the containment vessel were raised gradually. With each incremental rise of the water level, the sensor registered an increase in the sensor output, and the buzzer sounded an alarm when the threshold was exceeded. An SMS message was created.</a:t>
            </a:r>
            <a:endParaRPr lang="en-US" sz="4200" dirty="0">
              <a:latin typeface="Bell MT" panose="02020503060305020303" pitchFamily="18" charset="0"/>
            </a:endParaRPr>
          </a:p>
          <a:p>
            <a:r>
              <a:rPr lang="en-IN" sz="4200" dirty="0">
                <a:latin typeface="Bell MT" panose="02020503060305020303" pitchFamily="18" charset="0"/>
              </a:rPr>
              <a:t> </a:t>
            </a:r>
            <a:r>
              <a:rPr lang="en-IN" sz="4200" b="1" dirty="0" smtClean="0">
                <a:solidFill>
                  <a:srgbClr val="FF0000"/>
                </a:solidFill>
                <a:latin typeface="Bell MT" panose="02020503060305020303" pitchFamily="18" charset="0"/>
              </a:rPr>
              <a:t>Vibration Detection</a:t>
            </a:r>
            <a:endParaRPr lang="en-US" sz="4200" dirty="0">
              <a:solidFill>
                <a:srgbClr val="FF0000"/>
              </a:solidFill>
              <a:latin typeface="Bell MT" panose="02020503060305020303" pitchFamily="18" charset="0"/>
            </a:endParaRPr>
          </a:p>
          <a:p>
            <a:r>
              <a:rPr lang="en-IN" sz="4200" dirty="0" smtClean="0">
                <a:latin typeface="Bell MT" panose="02020503060305020303" pitchFamily="18" charset="0"/>
              </a:rPr>
              <a:t>To </a:t>
            </a:r>
            <a:r>
              <a:rPr lang="en-IN" sz="4200" dirty="0">
                <a:latin typeface="Bell MT" panose="02020503060305020303" pitchFamily="18" charset="0"/>
              </a:rPr>
              <a:t>simulate the effects of minor vibrations the sensor was subjected to gentle tapping and gentle shakes. Each time a gentle tap/shake was applied to the sensor, it was easily detected as sudden movement by the vibration sensor. As a result, the </a:t>
            </a:r>
            <a:r>
              <a:rPr lang="en-IN" sz="4200" dirty="0" err="1">
                <a:latin typeface="Bell MT" panose="02020503060305020303" pitchFamily="18" charset="0"/>
              </a:rPr>
              <a:t>Arduino</a:t>
            </a:r>
            <a:r>
              <a:rPr lang="en-IN" sz="4200" dirty="0">
                <a:latin typeface="Bell MT" panose="02020503060305020303" pitchFamily="18" charset="0"/>
              </a:rPr>
              <a:t> was activated and generated an alert.</a:t>
            </a:r>
            <a:endParaRPr lang="en-US" sz="4200" dirty="0">
              <a:latin typeface="Bell MT" panose="02020503060305020303" pitchFamily="18" charset="0"/>
            </a:endParaRPr>
          </a:p>
          <a:p>
            <a:r>
              <a:rPr lang="en-IN" dirty="0">
                <a:latin typeface="Bell MT" panose="02020503060305020303" pitchFamily="18" charset="0"/>
              </a:rPr>
              <a:t> </a:t>
            </a:r>
            <a:r>
              <a:rPr lang="en-IN" sz="4200" b="1" dirty="0" smtClean="0">
                <a:solidFill>
                  <a:srgbClr val="FF0000"/>
                </a:solidFill>
                <a:latin typeface="Bell MT" panose="02020503060305020303" pitchFamily="18" charset="0"/>
              </a:rPr>
              <a:t>Humidity </a:t>
            </a:r>
            <a:r>
              <a:rPr lang="en-IN" sz="4200" b="1" dirty="0">
                <a:solidFill>
                  <a:srgbClr val="FF0000"/>
                </a:solidFill>
                <a:latin typeface="Bell MT" panose="02020503060305020303" pitchFamily="18" charset="0"/>
              </a:rPr>
              <a:t>and Temperature Detection</a:t>
            </a:r>
            <a:endParaRPr lang="en-US" sz="4200" dirty="0">
              <a:solidFill>
                <a:srgbClr val="FF0000"/>
              </a:solidFill>
              <a:latin typeface="Bell MT" panose="02020503060305020303" pitchFamily="18" charset="0"/>
            </a:endParaRPr>
          </a:p>
          <a:p>
            <a:r>
              <a:rPr lang="en-IN" sz="4200" dirty="0">
                <a:latin typeface="Bell MT" panose="02020503060305020303" pitchFamily="18" charset="0"/>
              </a:rPr>
              <a:t>The sensor was placed into a warmer area and subsequently into a cooler area. There were corresponding changes in temperature and humidity output from the sensor for each test.</a:t>
            </a:r>
            <a:endParaRPr lang="en-US" sz="4200" dirty="0">
              <a:latin typeface="Bell MT" panose="02020503060305020303" pitchFamily="18" charset="0"/>
            </a:endParaRPr>
          </a:p>
          <a:p>
            <a:pPr marL="0" indent="0">
              <a:buNone/>
            </a:pPr>
            <a:r>
              <a:rPr lang="en-IN" sz="4200" dirty="0">
                <a:latin typeface="Bell MT" panose="02020503060305020303" pitchFamily="18" charset="0"/>
              </a:rPr>
              <a:t> </a:t>
            </a:r>
            <a:endParaRPr lang="en-US" sz="4200" dirty="0">
              <a:latin typeface="Bell MT" panose="02020503060305020303" pitchFamily="18" charset="0"/>
            </a:endParaRPr>
          </a:p>
          <a:p>
            <a:endParaRPr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sp>
        <p:nvSpPr>
          <p:cNvPr id="2" name="Title 1"/>
          <p:cNvSpPr>
            <a:spLocks noGrp="1"/>
          </p:cNvSpPr>
          <p:nvPr>
            <p:ph type="title"/>
          </p:nvPr>
        </p:nvSpPr>
        <p:spPr>
          <a:xfrm>
            <a:off x="457200" y="1028700"/>
            <a:ext cx="8229600" cy="1143000"/>
          </a:xfrm>
        </p:spPr>
        <p:txBody>
          <a:bodyPr vert="horz" lIns="91440" tIns="45720" rIns="91440" bIns="45720" rtlCol="0" anchor="ctr">
            <a:normAutofit/>
          </a:bodyPr>
          <a:lstStyle/>
          <a:p>
            <a:r>
              <a:rPr dirty="0" smtClean="0">
                <a:solidFill>
                  <a:srgbClr val="002060"/>
                </a:solidFill>
                <a:latin typeface="Arial Black" panose="020B0A04020102020204" pitchFamily="34" charset="0"/>
              </a:rPr>
              <a:t>Experiment</a:t>
            </a:r>
            <a:r>
              <a:rPr lang="en-US" dirty="0" smtClean="0">
                <a:solidFill>
                  <a:srgbClr val="002060"/>
                </a:solidFill>
                <a:latin typeface="Arial Black" panose="020B0A04020102020204" pitchFamily="34" charset="0"/>
              </a:rPr>
              <a:t>al Setup</a:t>
            </a:r>
            <a:r>
              <a:rPr dirty="0" smtClean="0">
                <a:solidFill>
                  <a:srgbClr val="002060"/>
                </a:solidFill>
                <a:latin typeface="Arial Black" panose="020B0A04020102020204" pitchFamily="34" charset="0"/>
              </a:rPr>
              <a:t> </a:t>
            </a:r>
            <a:endParaRPr dirty="0">
              <a:solidFill>
                <a:srgbClr val="002060"/>
              </a:solidFill>
              <a:latin typeface="Arial Black" panose="020B0A04020102020204" pitchFamily="34" charset="0"/>
            </a:endParaRPr>
          </a:p>
        </p:txBody>
      </p:sp>
      <p:sp>
        <p:nvSpPr>
          <p:cNvPr id="3" name="Content Placeholder 2"/>
          <p:cNvSpPr>
            <a:spLocks noGrp="1"/>
          </p:cNvSpPr>
          <p:nvPr>
            <p:ph idx="1"/>
          </p:nvPr>
        </p:nvSpPr>
        <p:spPr>
          <a:xfrm>
            <a:off x="457200" y="2171700"/>
            <a:ext cx="8229600" cy="4525963"/>
          </a:xfrm>
        </p:spPr>
        <p:txBody>
          <a:bodyPr>
            <a:normAutofit fontScale="55000" lnSpcReduction="20000"/>
          </a:bodyPr>
          <a:lstStyle/>
          <a:p>
            <a:pPr lvl="0"/>
            <a:r>
              <a:rPr lang="en-IN" sz="4400" dirty="0">
                <a:latin typeface="Bell MT" panose="02020503060305020303" pitchFamily="18" charset="0"/>
              </a:rPr>
              <a:t>The entire system was assembled on a wooden baseboard. In the experiments, the system’s sensors were arranged in a configuration similar to that of real life:</a:t>
            </a:r>
            <a:endParaRPr lang="en-US" sz="4400" dirty="0">
              <a:latin typeface="Bell MT" panose="02020503060305020303" pitchFamily="18" charset="0"/>
            </a:endParaRPr>
          </a:p>
          <a:p>
            <a:r>
              <a:rPr lang="en-IN" sz="4400" dirty="0">
                <a:latin typeface="Bell MT" panose="02020503060305020303" pitchFamily="18" charset="0"/>
              </a:rPr>
              <a:t> </a:t>
            </a:r>
            <a:r>
              <a:rPr lang="en-IN" sz="4400" dirty="0" smtClean="0">
                <a:latin typeface="Bell MT" panose="02020503060305020303" pitchFamily="18" charset="0"/>
              </a:rPr>
              <a:t>The </a:t>
            </a:r>
            <a:r>
              <a:rPr lang="en-IN" sz="4400" dirty="0">
                <a:latin typeface="Bell MT" panose="02020503060305020303" pitchFamily="18" charset="0"/>
              </a:rPr>
              <a:t>water level sensor was positioned within a container of water simulating a rise in the water level of a flood.</a:t>
            </a:r>
            <a:endParaRPr lang="en-US" sz="4400" dirty="0">
              <a:latin typeface="Bell MT" panose="02020503060305020303" pitchFamily="18" charset="0"/>
            </a:endParaRPr>
          </a:p>
          <a:p>
            <a:r>
              <a:rPr lang="en-IN" sz="4400" dirty="0">
                <a:latin typeface="Bell MT" panose="02020503060305020303" pitchFamily="18" charset="0"/>
              </a:rPr>
              <a:t> </a:t>
            </a:r>
            <a:r>
              <a:rPr lang="en-IN" sz="4400" dirty="0" smtClean="0">
                <a:latin typeface="Bell MT" panose="02020503060305020303" pitchFamily="18" charset="0"/>
              </a:rPr>
              <a:t>The </a:t>
            </a:r>
            <a:r>
              <a:rPr lang="en-IN" sz="4400" dirty="0">
                <a:latin typeface="Bell MT" panose="02020503060305020303" pitchFamily="18" charset="0"/>
              </a:rPr>
              <a:t>vibration sensor was placed on the </a:t>
            </a:r>
            <a:r>
              <a:rPr lang="en-IN" sz="4400" dirty="0" err="1">
                <a:latin typeface="Bell MT" panose="02020503060305020303" pitchFamily="18" charset="0"/>
              </a:rPr>
              <a:t>tabletop</a:t>
            </a:r>
            <a:r>
              <a:rPr lang="en-IN" sz="4400" dirty="0">
                <a:latin typeface="Bell MT" panose="02020503060305020303" pitchFamily="18" charset="0"/>
              </a:rPr>
              <a:t> so that controlled shaking could be applied.</a:t>
            </a:r>
            <a:endParaRPr lang="en-US" sz="4400" dirty="0">
              <a:latin typeface="Bell MT" panose="02020503060305020303" pitchFamily="18" charset="0"/>
            </a:endParaRPr>
          </a:p>
          <a:p>
            <a:r>
              <a:rPr lang="en-IN" sz="4400" dirty="0">
                <a:latin typeface="Bell MT" panose="02020503060305020303" pitchFamily="18" charset="0"/>
              </a:rPr>
              <a:t> </a:t>
            </a:r>
            <a:r>
              <a:rPr lang="en-IN" sz="4400" dirty="0" smtClean="0">
                <a:latin typeface="Bell MT" panose="02020503060305020303" pitchFamily="18" charset="0"/>
              </a:rPr>
              <a:t>The </a:t>
            </a:r>
            <a:r>
              <a:rPr lang="en-IN" sz="4400" dirty="0">
                <a:latin typeface="Bell MT" panose="02020503060305020303" pitchFamily="18" charset="0"/>
              </a:rPr>
              <a:t>temperature/humidity sensor was placed indoors and outdoors to determine value variation.</a:t>
            </a:r>
            <a:endParaRPr lang="en-US" sz="4400" dirty="0">
              <a:latin typeface="Bell MT" panose="02020503060305020303" pitchFamily="18" charset="0"/>
            </a:endParaRPr>
          </a:p>
          <a:p>
            <a:r>
              <a:rPr lang="en-IN" sz="4400" dirty="0">
                <a:latin typeface="Bell MT" panose="02020503060305020303" pitchFamily="18" charset="0"/>
              </a:rPr>
              <a:t> </a:t>
            </a:r>
            <a:r>
              <a:rPr lang="en-IN" sz="4400" dirty="0" smtClean="0">
                <a:latin typeface="Bell MT" panose="02020503060305020303" pitchFamily="18" charset="0"/>
              </a:rPr>
              <a:t>The </a:t>
            </a:r>
            <a:r>
              <a:rPr lang="en-IN" sz="4400" dirty="0" err="1">
                <a:latin typeface="Bell MT" panose="02020503060305020303" pitchFamily="18" charset="0"/>
              </a:rPr>
              <a:t>Arduino</a:t>
            </a:r>
            <a:r>
              <a:rPr lang="en-IN" sz="4400" dirty="0">
                <a:latin typeface="Bell MT" panose="02020503060305020303" pitchFamily="18" charset="0"/>
              </a:rPr>
              <a:t> IDE was used on a laptop to retrieve the values of the sensors via Serial Monitor.</a:t>
            </a:r>
            <a:endParaRPr lang="en-US" sz="4400" dirty="0">
              <a:latin typeface="Bell MT" panose="02020503060305020303" pitchFamily="18" charset="0"/>
            </a:endParaRPr>
          </a:p>
          <a:p>
            <a:pPr marL="0" indent="0">
              <a:buNone/>
            </a:pPr>
            <a:r>
              <a:rPr lang="en-IN" sz="4400" dirty="0">
                <a:latin typeface="Bell MT" panose="02020503060305020303" pitchFamily="18" charset="0"/>
              </a:rPr>
              <a:t> </a:t>
            </a:r>
            <a:endParaRPr lang="en-US" sz="4400" dirty="0">
              <a:latin typeface="Bell MT" panose="02020503060305020303" pitchFamily="18" charset="0"/>
            </a:endParaRPr>
          </a:p>
          <a:p>
            <a:endParaRPr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sp>
        <p:nvSpPr>
          <p:cNvPr id="2" name="Title 1"/>
          <p:cNvSpPr>
            <a:spLocks noGrp="1"/>
          </p:cNvSpPr>
          <p:nvPr>
            <p:ph type="title"/>
          </p:nvPr>
        </p:nvSpPr>
        <p:spPr>
          <a:xfrm>
            <a:off x="457200" y="1028700"/>
            <a:ext cx="8229600" cy="1143000"/>
          </a:xfrm>
        </p:spPr>
        <p:txBody>
          <a:bodyPr vert="horz" lIns="91440" tIns="45720" rIns="91440" bIns="45720" rtlCol="0" anchor="ctr">
            <a:normAutofit/>
          </a:bodyPr>
          <a:lstStyle/>
          <a:p>
            <a:r>
              <a:rPr dirty="0" smtClean="0">
                <a:solidFill>
                  <a:srgbClr val="002060"/>
                </a:solidFill>
                <a:latin typeface="Arial Black" panose="020B0A04020102020204" pitchFamily="34" charset="0"/>
              </a:rPr>
              <a:t> Circuit Diagram</a:t>
            </a:r>
            <a:endParaRPr dirty="0">
              <a:solidFill>
                <a:srgbClr val="002060"/>
              </a:solidFill>
              <a:latin typeface="Arial Black" panose="020B0A04020102020204"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pic>
        <p:nvPicPr>
          <p:cNvPr id="6" name="Content Placeholder 5"/>
          <p:cNvPicPr>
            <a:picLocks noGrp="1"/>
          </p:cNvPicPr>
          <p:nvPr>
            <p:ph idx="1"/>
          </p:nvPr>
        </p:nvPicPr>
        <p:blipFill>
          <a:blip r:embed="rId4"/>
          <a:stretch>
            <a:fillRect/>
          </a:stretch>
        </p:blipFill>
        <p:spPr>
          <a:xfrm>
            <a:off x="204465" y="2171700"/>
            <a:ext cx="3257192" cy="2106385"/>
          </a:xfrm>
          <a:prstGeom prst="rect">
            <a:avLst/>
          </a:prstGeom>
        </p:spPr>
      </p:pic>
      <p:pic>
        <p:nvPicPr>
          <p:cNvPr id="7" name="Picture 6"/>
          <p:cNvPicPr/>
          <p:nvPr/>
        </p:nvPicPr>
        <p:blipFill>
          <a:blip r:embed="rId5"/>
          <a:stretch>
            <a:fillRect/>
          </a:stretch>
        </p:blipFill>
        <p:spPr>
          <a:xfrm>
            <a:off x="4723443" y="2328192"/>
            <a:ext cx="3278176" cy="1949893"/>
          </a:xfrm>
          <a:prstGeom prst="rect">
            <a:avLst/>
          </a:prstGeom>
        </p:spPr>
      </p:pic>
      <p:pic>
        <p:nvPicPr>
          <p:cNvPr id="8" name="Picture 7"/>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69571" y="4109376"/>
            <a:ext cx="5714999" cy="2520024"/>
          </a:xfrm>
          <a:prstGeom prst="rect">
            <a:avLst/>
          </a:prstGeom>
          <a:noFill/>
          <a:ln>
            <a:noFill/>
          </a:ln>
        </p:spPr>
      </p:pic>
    </p:spTree>
    <p:extLst>
      <p:ext uri="{BB962C8B-B14F-4D97-AF65-F5344CB8AC3E}">
        <p14:creationId xmlns:p14="http://schemas.microsoft.com/office/powerpoint/2010/main" val="3373747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sp>
        <p:nvSpPr>
          <p:cNvPr id="2" name="Title 1"/>
          <p:cNvSpPr>
            <a:spLocks noGrp="1"/>
          </p:cNvSpPr>
          <p:nvPr>
            <p:ph type="title"/>
          </p:nvPr>
        </p:nvSpPr>
        <p:spPr>
          <a:xfrm>
            <a:off x="457200" y="1028700"/>
            <a:ext cx="8229600" cy="1143000"/>
          </a:xfrm>
        </p:spPr>
        <p:txBody>
          <a:bodyPr vert="horz" lIns="91440" tIns="45720" rIns="91440" bIns="45720" rtlCol="0" anchor="ctr">
            <a:normAutofit/>
          </a:bodyPr>
          <a:lstStyle/>
          <a:p>
            <a:r>
              <a:rPr lang="en-US" dirty="0" smtClean="0">
                <a:solidFill>
                  <a:srgbClr val="002060"/>
                </a:solidFill>
                <a:latin typeface="Arial Black" panose="020B0A04020102020204" pitchFamily="34" charset="0"/>
              </a:rPr>
              <a:t>Component List</a:t>
            </a:r>
            <a:endParaRPr dirty="0">
              <a:solidFill>
                <a:srgbClr val="002060"/>
              </a:solidFill>
              <a:latin typeface="Arial Black" panose="020B0A04020102020204" pitchFamily="34" charset="0"/>
            </a:endParaRPr>
          </a:p>
        </p:txBody>
      </p:sp>
      <p:sp>
        <p:nvSpPr>
          <p:cNvPr id="3" name="Content Placeholder 2"/>
          <p:cNvSpPr>
            <a:spLocks noGrp="1"/>
          </p:cNvSpPr>
          <p:nvPr>
            <p:ph idx="1"/>
          </p:nvPr>
        </p:nvSpPr>
        <p:spPr>
          <a:xfrm>
            <a:off x="457200" y="2171700"/>
            <a:ext cx="8229600" cy="4525963"/>
          </a:xfrm>
        </p:spPr>
        <p:txBody>
          <a:bodyPr>
            <a:normAutofit fontScale="92500"/>
          </a:bodyPr>
          <a:lstStyle/>
          <a:p>
            <a:r>
              <a:rPr lang="en-IN" b="1" dirty="0" err="1"/>
              <a:t>Arduino</a:t>
            </a:r>
            <a:r>
              <a:rPr lang="en-IN" b="1" dirty="0"/>
              <a:t> </a:t>
            </a:r>
            <a:r>
              <a:rPr lang="en-IN" b="1" dirty="0" smtClean="0"/>
              <a:t>UNO</a:t>
            </a:r>
          </a:p>
          <a:p>
            <a:r>
              <a:rPr lang="en-IN" b="1" dirty="0" smtClean="0"/>
              <a:t>Water </a:t>
            </a:r>
            <a:r>
              <a:rPr lang="en-IN" b="1" dirty="0"/>
              <a:t>Level Sensor </a:t>
            </a:r>
            <a:endParaRPr lang="en-US" dirty="0"/>
          </a:p>
          <a:p>
            <a:r>
              <a:rPr lang="en-IN" b="1" dirty="0"/>
              <a:t>Vibration Sensor (SW-420</a:t>
            </a:r>
            <a:r>
              <a:rPr lang="en-IN" b="1" dirty="0" smtClean="0"/>
              <a:t>)</a:t>
            </a:r>
          </a:p>
          <a:p>
            <a:r>
              <a:rPr lang="en-IN" b="1" dirty="0"/>
              <a:t>Temperature &amp; Humidity Sensor (DHT11/DHT22</a:t>
            </a:r>
            <a:r>
              <a:rPr lang="en-IN" b="1" dirty="0" smtClean="0"/>
              <a:t>)</a:t>
            </a:r>
          </a:p>
          <a:p>
            <a:r>
              <a:rPr lang="en-IN" b="1" dirty="0"/>
              <a:t>Buzzer and LED </a:t>
            </a:r>
            <a:r>
              <a:rPr lang="en-IN" b="1" dirty="0" smtClean="0"/>
              <a:t>Indicators</a:t>
            </a:r>
          </a:p>
          <a:p>
            <a:r>
              <a:rPr lang="en-IN" b="1" dirty="0"/>
              <a:t>Power Supply</a:t>
            </a:r>
            <a:endParaRPr lang="en-US" dirty="0"/>
          </a:p>
          <a:p>
            <a:r>
              <a:rPr lang="en-IN" dirty="0"/>
              <a:t>A 9V battery or USB power is used to power </a:t>
            </a:r>
            <a:r>
              <a:rPr lang="en-IN" dirty="0" err="1"/>
              <a:t>Arduino</a:t>
            </a:r>
            <a:r>
              <a:rPr lang="en-IN" dirty="0"/>
              <a:t> and sensors.</a:t>
            </a:r>
            <a:endParaRPr lang="en-US" dirty="0"/>
          </a:p>
          <a:p>
            <a:endParaRPr lang="en-US" dirty="0"/>
          </a:p>
          <a:p>
            <a:endParaRPr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extLst>
      <p:ext uri="{BB962C8B-B14F-4D97-AF65-F5344CB8AC3E}">
        <p14:creationId xmlns:p14="http://schemas.microsoft.com/office/powerpoint/2010/main" val="1711602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sp>
        <p:nvSpPr>
          <p:cNvPr id="2" name="Title 1"/>
          <p:cNvSpPr>
            <a:spLocks noGrp="1"/>
          </p:cNvSpPr>
          <p:nvPr>
            <p:ph type="title"/>
          </p:nvPr>
        </p:nvSpPr>
        <p:spPr>
          <a:xfrm>
            <a:off x="457200" y="1028700"/>
            <a:ext cx="8229600" cy="1143000"/>
          </a:xfrm>
        </p:spPr>
        <p:txBody>
          <a:bodyPr vert="horz" lIns="91440" tIns="45720" rIns="91440" bIns="45720" rtlCol="0" anchor="ctr">
            <a:normAutofit/>
          </a:bodyPr>
          <a:lstStyle/>
          <a:p>
            <a:r>
              <a:rPr lang="en-US" dirty="0" smtClean="0">
                <a:solidFill>
                  <a:srgbClr val="002060"/>
                </a:solidFill>
                <a:latin typeface="Arial Black" panose="020B0A04020102020204" pitchFamily="34" charset="0"/>
              </a:rPr>
              <a:t>Working Principle</a:t>
            </a:r>
            <a:endParaRPr dirty="0">
              <a:solidFill>
                <a:srgbClr val="002060"/>
              </a:solidFill>
              <a:latin typeface="Arial Black" panose="020B0A04020102020204" pitchFamily="34" charset="0"/>
            </a:endParaRPr>
          </a:p>
        </p:txBody>
      </p:sp>
      <p:sp>
        <p:nvSpPr>
          <p:cNvPr id="3" name="Content Placeholder 2"/>
          <p:cNvSpPr>
            <a:spLocks noGrp="1"/>
          </p:cNvSpPr>
          <p:nvPr>
            <p:ph idx="1"/>
          </p:nvPr>
        </p:nvSpPr>
        <p:spPr>
          <a:xfrm>
            <a:off x="457200" y="2171700"/>
            <a:ext cx="8229600" cy="4525963"/>
          </a:xfrm>
        </p:spPr>
        <p:txBody>
          <a:bodyPr>
            <a:normAutofit fontScale="77500" lnSpcReduction="20000"/>
          </a:bodyPr>
          <a:lstStyle/>
          <a:p>
            <a:pPr lvl="0"/>
            <a:r>
              <a:rPr lang="en-IN" b="1" dirty="0">
                <a:latin typeface="Bell MT" panose="02020503060305020303" pitchFamily="18" charset="0"/>
              </a:rPr>
              <a:t>Sensor Detection:</a:t>
            </a:r>
            <a:endParaRPr lang="en-US" b="1" dirty="0">
              <a:latin typeface="Bell MT" panose="02020503060305020303" pitchFamily="18" charset="0"/>
            </a:endParaRPr>
          </a:p>
          <a:p>
            <a:pPr lvl="1"/>
            <a:r>
              <a:rPr lang="en-IN" dirty="0">
                <a:latin typeface="Bell MT" panose="02020503060305020303" pitchFamily="18" charset="0"/>
              </a:rPr>
              <a:t>Fire sensor detects flames or high temperature.</a:t>
            </a:r>
            <a:endParaRPr lang="en-US" b="1" dirty="0">
              <a:latin typeface="Bell MT" panose="02020503060305020303" pitchFamily="18" charset="0"/>
            </a:endParaRPr>
          </a:p>
          <a:p>
            <a:pPr lvl="1"/>
            <a:r>
              <a:rPr lang="en-IN" dirty="0">
                <a:latin typeface="Bell MT" panose="02020503060305020303" pitchFamily="18" charset="0"/>
              </a:rPr>
              <a:t>Gas sensor continuously monitors air quality for harmful gases.</a:t>
            </a:r>
            <a:endParaRPr lang="en-US" b="1" dirty="0">
              <a:latin typeface="Bell MT" panose="02020503060305020303" pitchFamily="18" charset="0"/>
            </a:endParaRPr>
          </a:p>
          <a:p>
            <a:pPr lvl="1"/>
            <a:r>
              <a:rPr lang="en-IN" dirty="0">
                <a:latin typeface="Bell MT" panose="02020503060305020303" pitchFamily="18" charset="0"/>
              </a:rPr>
              <a:t>Water-level sensor monitors flood risk.</a:t>
            </a:r>
            <a:endParaRPr lang="en-US" b="1" dirty="0">
              <a:latin typeface="Bell MT" panose="02020503060305020303" pitchFamily="18" charset="0"/>
            </a:endParaRPr>
          </a:p>
          <a:p>
            <a:pPr lvl="1"/>
            <a:r>
              <a:rPr lang="en-IN" dirty="0">
                <a:latin typeface="Bell MT" panose="02020503060305020303" pitchFamily="18" charset="0"/>
              </a:rPr>
              <a:t>Vibration sensor detects abnormal structural movements</a:t>
            </a:r>
            <a:r>
              <a:rPr lang="en-IN" dirty="0" smtClean="0">
                <a:latin typeface="Bell MT" panose="02020503060305020303" pitchFamily="18" charset="0"/>
              </a:rPr>
              <a:t>.</a:t>
            </a:r>
            <a:endParaRPr lang="en-US" b="1" dirty="0">
              <a:latin typeface="Bell MT" panose="02020503060305020303" pitchFamily="18" charset="0"/>
            </a:endParaRPr>
          </a:p>
          <a:p>
            <a:pPr lvl="0"/>
            <a:r>
              <a:rPr lang="en-IN" b="1" dirty="0">
                <a:latin typeface="Bell MT" panose="02020503060305020303" pitchFamily="18" charset="0"/>
              </a:rPr>
              <a:t>Data Processing:</a:t>
            </a:r>
            <a:r>
              <a:rPr lang="en-IN" dirty="0">
                <a:latin typeface="Bell MT" panose="02020503060305020303" pitchFamily="18" charset="0"/>
              </a:rPr>
              <a:t/>
            </a:r>
            <a:br>
              <a:rPr lang="en-IN" dirty="0">
                <a:latin typeface="Bell MT" panose="02020503060305020303" pitchFamily="18" charset="0"/>
              </a:rPr>
            </a:br>
            <a:r>
              <a:rPr lang="en-IN" dirty="0" err="1">
                <a:latin typeface="Bell MT" panose="02020503060305020303" pitchFamily="18" charset="0"/>
              </a:rPr>
              <a:t>Arduino</a:t>
            </a:r>
            <a:r>
              <a:rPr lang="en-IN" dirty="0">
                <a:latin typeface="Bell MT" panose="02020503060305020303" pitchFamily="18" charset="0"/>
              </a:rPr>
              <a:t> reads sensor data and compares it with predefined thresholds. Advanced designs may include ML models to detect anomalies and reduce false alarms</a:t>
            </a:r>
            <a:r>
              <a:rPr lang="en-IN" dirty="0" smtClean="0">
                <a:latin typeface="Bell MT" panose="02020503060305020303" pitchFamily="18" charset="0"/>
              </a:rPr>
              <a:t>.</a:t>
            </a:r>
            <a:r>
              <a:rPr lang="en-IN" dirty="0">
                <a:latin typeface="Bell MT" panose="02020503060305020303" pitchFamily="18" charset="0"/>
              </a:rPr>
              <a:t> </a:t>
            </a:r>
            <a:endParaRPr lang="en-US" b="1" dirty="0">
              <a:latin typeface="Bell MT" panose="02020503060305020303" pitchFamily="18" charset="0"/>
            </a:endParaRPr>
          </a:p>
          <a:p>
            <a:pPr lvl="0"/>
            <a:r>
              <a:rPr lang="en-IN" b="1" dirty="0">
                <a:latin typeface="Bell MT" panose="02020503060305020303" pitchFamily="18" charset="0"/>
              </a:rPr>
              <a:t>Alert Generation:</a:t>
            </a:r>
            <a:endParaRPr lang="en-US" b="1" dirty="0">
              <a:latin typeface="Bell MT" panose="02020503060305020303" pitchFamily="18" charset="0"/>
            </a:endParaRPr>
          </a:p>
          <a:p>
            <a:pPr lvl="1"/>
            <a:r>
              <a:rPr lang="en-IN" dirty="0">
                <a:latin typeface="Bell MT" panose="02020503060305020303" pitchFamily="18" charset="0"/>
              </a:rPr>
              <a:t>If a hazard is detected, the system activates local alarms (buzzer, LED).</a:t>
            </a:r>
            <a:endParaRPr lang="en-US" b="1" dirty="0">
              <a:latin typeface="Bell MT" panose="02020503060305020303" pitchFamily="18" charset="0"/>
            </a:endParaRPr>
          </a:p>
          <a:p>
            <a:endParaRPr lang="en-US" dirty="0"/>
          </a:p>
          <a:p>
            <a:endParaRPr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extLst>
      <p:ext uri="{BB962C8B-B14F-4D97-AF65-F5344CB8AC3E}">
        <p14:creationId xmlns:p14="http://schemas.microsoft.com/office/powerpoint/2010/main" val="2059481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sp>
        <p:nvSpPr>
          <p:cNvPr id="2" name="Title 1"/>
          <p:cNvSpPr>
            <a:spLocks noGrp="1"/>
          </p:cNvSpPr>
          <p:nvPr>
            <p:ph type="title"/>
          </p:nvPr>
        </p:nvSpPr>
        <p:spPr>
          <a:xfrm>
            <a:off x="457200" y="817563"/>
            <a:ext cx="8229600" cy="1143000"/>
          </a:xfrm>
        </p:spPr>
        <p:txBody>
          <a:bodyPr vert="horz" lIns="91440" tIns="45720" rIns="91440" bIns="45720" rtlCol="0" anchor="ctr">
            <a:normAutofit/>
          </a:bodyPr>
          <a:lstStyle/>
          <a:p>
            <a:r>
              <a:rPr dirty="0">
                <a:solidFill>
                  <a:srgbClr val="002060"/>
                </a:solidFill>
                <a:latin typeface="Arial Black" panose="020B0A04020102020204" pitchFamily="34" charset="0"/>
              </a:rPr>
              <a:t>Results &amp; Discussion</a:t>
            </a:r>
          </a:p>
        </p:txBody>
      </p:sp>
      <p:sp>
        <p:nvSpPr>
          <p:cNvPr id="3" name="Content Placeholder 2"/>
          <p:cNvSpPr>
            <a:spLocks noGrp="1"/>
          </p:cNvSpPr>
          <p:nvPr>
            <p:ph idx="1"/>
          </p:nvPr>
        </p:nvSpPr>
        <p:spPr>
          <a:xfrm>
            <a:off x="457200" y="1928813"/>
            <a:ext cx="8229600" cy="4525963"/>
          </a:xfrm>
        </p:spPr>
        <p:txBody>
          <a:bodyPr>
            <a:normAutofit fontScale="62500" lnSpcReduction="20000"/>
          </a:bodyPr>
          <a:lstStyle/>
          <a:p>
            <a:r>
              <a:rPr lang="en-IN" sz="3800" b="1" u="sng" dirty="0">
                <a:solidFill>
                  <a:schemeClr val="tx2">
                    <a:lumMod val="50000"/>
                  </a:schemeClr>
                </a:solidFill>
                <a:latin typeface="Bell MT" panose="02020503060305020303" pitchFamily="18" charset="0"/>
              </a:rPr>
              <a:t>Quantitative Results</a:t>
            </a:r>
            <a:endParaRPr lang="en-US" sz="3800" b="1" u="sng" dirty="0">
              <a:solidFill>
                <a:schemeClr val="tx2">
                  <a:lumMod val="50000"/>
                </a:schemeClr>
              </a:solidFill>
              <a:latin typeface="Bell MT" panose="02020503060305020303" pitchFamily="18" charset="0"/>
            </a:endParaRPr>
          </a:p>
          <a:p>
            <a:pPr lvl="0"/>
            <a:r>
              <a:rPr lang="en-IN" b="1" dirty="0">
                <a:latin typeface="Bell MT" panose="02020503060305020303" pitchFamily="18" charset="0"/>
              </a:rPr>
              <a:t>Fire Sensor: </a:t>
            </a:r>
            <a:r>
              <a:rPr lang="en-IN" dirty="0">
                <a:latin typeface="Bell MT" panose="02020503060305020303" pitchFamily="18" charset="0"/>
              </a:rPr>
              <a:t> The flame sensor registered the presence of an open flame within fractions of a second at close range.</a:t>
            </a:r>
            <a:endParaRPr lang="en-US" dirty="0">
              <a:latin typeface="Bell MT" panose="02020503060305020303" pitchFamily="18" charset="0"/>
            </a:endParaRPr>
          </a:p>
          <a:p>
            <a:pPr lvl="0"/>
            <a:r>
              <a:rPr lang="en-IN" b="1" dirty="0">
                <a:latin typeface="Bell MT" panose="02020503060305020303" pitchFamily="18" charset="0"/>
              </a:rPr>
              <a:t>Gas Sensor:</a:t>
            </a:r>
            <a:r>
              <a:rPr lang="en-IN" dirty="0">
                <a:latin typeface="Bell MT" panose="02020503060305020303" pitchFamily="18" charset="0"/>
              </a:rPr>
              <a:t>MQ-135 outputs required the standard warm-up (stabilization) time; after warm-up the module detected concentration changes reliably</a:t>
            </a:r>
            <a:endParaRPr lang="en-US" dirty="0">
              <a:latin typeface="Bell MT" panose="02020503060305020303" pitchFamily="18" charset="0"/>
            </a:endParaRPr>
          </a:p>
          <a:p>
            <a:pPr lvl="0"/>
            <a:r>
              <a:rPr lang="en-IN" b="1" dirty="0">
                <a:latin typeface="Bell MT" panose="02020503060305020303" pitchFamily="18" charset="0"/>
              </a:rPr>
              <a:t>Water-level sensor:</a:t>
            </a:r>
            <a:r>
              <a:rPr lang="en-IN" dirty="0">
                <a:latin typeface="Bell MT" panose="02020503060305020303" pitchFamily="18" charset="0"/>
              </a:rPr>
              <a:t> The water-level sensor worked as expected, When the water level rose above a certain pre-defined threshold limit, A alert was triggered to warn the rise in water-level </a:t>
            </a:r>
            <a:endParaRPr lang="en-US" dirty="0">
              <a:latin typeface="Bell MT" panose="02020503060305020303" pitchFamily="18" charset="0"/>
            </a:endParaRPr>
          </a:p>
          <a:p>
            <a:pPr lvl="0"/>
            <a:r>
              <a:rPr lang="en-IN" b="1" dirty="0">
                <a:latin typeface="Bell MT" panose="02020503060305020303" pitchFamily="18" charset="0"/>
              </a:rPr>
              <a:t>Vibration Sensor:</a:t>
            </a:r>
            <a:r>
              <a:rPr lang="en-IN" dirty="0">
                <a:latin typeface="Bell MT" panose="02020503060305020303" pitchFamily="18" charset="0"/>
              </a:rPr>
              <a:t> SW-420 reliably toggled its digital output on light taps and stronger shakes.</a:t>
            </a:r>
            <a:endParaRPr lang="en-US" dirty="0">
              <a:latin typeface="Bell MT" panose="02020503060305020303" pitchFamily="18" charset="0"/>
            </a:endParaRPr>
          </a:p>
          <a:p>
            <a:r>
              <a:rPr lang="en-IN" sz="3800" b="1" u="sng" dirty="0">
                <a:latin typeface="Bell MT" panose="02020503060305020303" pitchFamily="18" charset="0"/>
              </a:rPr>
              <a:t>ALERTING</a:t>
            </a:r>
            <a:endParaRPr lang="en-US" sz="3800" b="1" u="sng" dirty="0">
              <a:latin typeface="Bell MT" panose="02020503060305020303" pitchFamily="18" charset="0"/>
            </a:endParaRPr>
          </a:p>
          <a:p>
            <a:r>
              <a:rPr lang="en-IN" dirty="0">
                <a:latin typeface="Bell MT" panose="02020503060305020303" pitchFamily="18" charset="0"/>
              </a:rPr>
              <a:t>The hazard detection system activated the specific LEDs and the Buzzer almost instantly for the flame and vibration sensor but was slightly delayed for the Gas and Water-level sensor based on speed on immersion</a:t>
            </a:r>
            <a:endParaRPr lang="en-US" dirty="0">
              <a:latin typeface="Bell MT" panose="02020503060305020303" pitchFamily="18" charset="0"/>
            </a:endParaRPr>
          </a:p>
          <a:p>
            <a:endParaRPr dirty="0">
              <a:latin typeface="Bell MT" panose="02020503060305020303" pitchFamily="18"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2963"/>
            <a:ext cx="8229600" cy="1143000"/>
          </a:xfrm>
        </p:spPr>
        <p:txBody>
          <a:bodyPr vert="horz" lIns="91440" tIns="45720" rIns="91440" bIns="45720" rtlCol="0" anchor="ctr">
            <a:normAutofit/>
          </a:bodyPr>
          <a:lstStyle/>
          <a:p>
            <a:r>
              <a:rPr dirty="0">
                <a:solidFill>
                  <a:srgbClr val="002060"/>
                </a:solidFill>
                <a:latin typeface="Arial Black" panose="020B0A04020102020204" pitchFamily="34" charset="0"/>
              </a:rPr>
              <a:t>Conclusion</a:t>
            </a:r>
          </a:p>
        </p:txBody>
      </p:sp>
      <p:sp>
        <p:nvSpPr>
          <p:cNvPr id="3" name="Content Placeholder 2"/>
          <p:cNvSpPr>
            <a:spLocks noGrp="1"/>
          </p:cNvSpPr>
          <p:nvPr>
            <p:ph idx="1"/>
          </p:nvPr>
        </p:nvSpPr>
        <p:spPr>
          <a:xfrm>
            <a:off x="342900" y="2332037"/>
            <a:ext cx="8229600" cy="4525963"/>
          </a:xfrm>
        </p:spPr>
        <p:txBody>
          <a:bodyPr>
            <a:noAutofit/>
          </a:bodyPr>
          <a:lstStyle/>
          <a:p>
            <a:r>
              <a:rPr lang="en-IN" sz="2800" dirty="0" err="1">
                <a:latin typeface="Bell MT" panose="02020503060305020303" pitchFamily="18" charset="0"/>
              </a:rPr>
              <a:t>Arduino</a:t>
            </a:r>
            <a:r>
              <a:rPr lang="en-IN" sz="2800" dirty="0">
                <a:latin typeface="Bell MT" panose="02020503060305020303" pitchFamily="18" charset="0"/>
              </a:rPr>
              <a:t>-based Multi-Hazard Early Warning System integrating flame, gas, water-level, and vibration detection. The prototype demonstrated reliable local alerting through This project successfully developed a low-cost LEDs and a </a:t>
            </a:r>
            <a:r>
              <a:rPr lang="en-IN" sz="2800" dirty="0" smtClean="0">
                <a:latin typeface="Bell MT" panose="02020503060305020303" pitchFamily="18" charset="0"/>
              </a:rPr>
              <a:t>buzzer</a:t>
            </a:r>
            <a:endParaRPr lang="en-US" sz="2800" dirty="0">
              <a:latin typeface="Bell MT" panose="02020503060305020303" pitchFamily="18" charset="0"/>
            </a:endParaRPr>
          </a:p>
          <a:p>
            <a:r>
              <a:rPr lang="en-IN" sz="2800" dirty="0">
                <a:latin typeface="Bell MT" panose="02020503060305020303" pitchFamily="18" charset="0"/>
              </a:rPr>
              <a:t>The unified approach reduces the need for multiple standalone detectors and provides a practical, extensible foundation for improved safety in households, small industries, and institutional environments</a:t>
            </a:r>
            <a:endParaRPr sz="2800" dirty="0">
              <a:latin typeface="Bell MT" panose="0202050306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2963"/>
            <a:ext cx="8229600" cy="1143000"/>
          </a:xfrm>
        </p:spPr>
        <p:txBody>
          <a:bodyPr vert="horz" lIns="91440" tIns="45720" rIns="91440" bIns="45720" rtlCol="0" anchor="ctr">
            <a:normAutofit/>
          </a:bodyPr>
          <a:lstStyle/>
          <a:p>
            <a:r>
              <a:rPr lang="en-US" dirty="0" smtClean="0">
                <a:solidFill>
                  <a:srgbClr val="002060"/>
                </a:solidFill>
                <a:latin typeface="Arial Black" panose="020B0A04020102020204" pitchFamily="34" charset="0"/>
              </a:rPr>
              <a:t>Future Prospects</a:t>
            </a:r>
            <a:endParaRPr dirty="0">
              <a:solidFill>
                <a:srgbClr val="002060"/>
              </a:solidFill>
              <a:latin typeface="Arial Black" panose="020B0A04020102020204" pitchFamily="34" charset="0"/>
            </a:endParaRPr>
          </a:p>
        </p:txBody>
      </p:sp>
      <p:sp>
        <p:nvSpPr>
          <p:cNvPr id="3" name="Content Placeholder 2"/>
          <p:cNvSpPr>
            <a:spLocks noGrp="1"/>
          </p:cNvSpPr>
          <p:nvPr>
            <p:ph idx="1"/>
          </p:nvPr>
        </p:nvSpPr>
        <p:spPr>
          <a:xfrm>
            <a:off x="342900" y="2332037"/>
            <a:ext cx="8229600" cy="4525963"/>
          </a:xfrm>
        </p:spPr>
        <p:txBody>
          <a:bodyPr>
            <a:noAutofit/>
          </a:bodyPr>
          <a:lstStyle/>
          <a:p>
            <a:pPr lvl="0"/>
            <a:r>
              <a:rPr lang="en-IN" sz="2000" b="1" dirty="0" err="1">
                <a:latin typeface="Bell MT" panose="02020503060305020303" pitchFamily="18" charset="0"/>
              </a:rPr>
              <a:t>IoT</a:t>
            </a:r>
            <a:r>
              <a:rPr lang="en-IN" sz="2000" b="1" dirty="0">
                <a:latin typeface="Bell MT" panose="02020503060305020303" pitchFamily="18" charset="0"/>
              </a:rPr>
              <a:t> Integration:</a:t>
            </a:r>
            <a:r>
              <a:rPr lang="en-IN" sz="2000" dirty="0">
                <a:latin typeface="Bell MT" panose="02020503060305020303" pitchFamily="18" charset="0"/>
              </a:rPr>
              <a:t> Use ESP32/Wi-Fi or </a:t>
            </a:r>
            <a:r>
              <a:rPr lang="en-IN" sz="2000" dirty="0" err="1">
                <a:latin typeface="Bell MT" panose="02020503060305020303" pitchFamily="18" charset="0"/>
              </a:rPr>
              <a:t>LoRaWAN</a:t>
            </a:r>
            <a:r>
              <a:rPr lang="en-IN" sz="2000" dirty="0">
                <a:latin typeface="Bell MT" panose="02020503060305020303" pitchFamily="18" charset="0"/>
              </a:rPr>
              <a:t> to send sensor telemetry to cloud dashboards and mobile apps for remote monitoring, historical logging, and analytics.</a:t>
            </a:r>
            <a:endParaRPr lang="en-US" sz="2000" b="1" dirty="0">
              <a:latin typeface="Bell MT" panose="02020503060305020303" pitchFamily="18" charset="0"/>
            </a:endParaRPr>
          </a:p>
          <a:p>
            <a:pPr lvl="0"/>
            <a:r>
              <a:rPr lang="en-IN" sz="2000" b="1" dirty="0">
                <a:latin typeface="Bell MT" panose="02020503060305020303" pitchFamily="18" charset="0"/>
              </a:rPr>
              <a:t>Machine Learning &amp; Analytics</a:t>
            </a:r>
            <a:r>
              <a:rPr lang="en-IN" sz="2000" dirty="0">
                <a:latin typeface="Bell MT" panose="02020503060305020303" pitchFamily="18" charset="0"/>
              </a:rPr>
              <a:t>: Apply edge or cloud-based ML to multi-sensor patterns for predictive alerts (reducing false positives) and anomaly detection</a:t>
            </a:r>
            <a:endParaRPr lang="en-US" sz="2000" b="1" dirty="0">
              <a:latin typeface="Bell MT" panose="02020503060305020303" pitchFamily="18" charset="0"/>
            </a:endParaRPr>
          </a:p>
          <a:p>
            <a:pPr lvl="0"/>
            <a:r>
              <a:rPr lang="en-IN" sz="2000" b="1" dirty="0">
                <a:latin typeface="Bell MT" panose="02020503060305020303" pitchFamily="18" charset="0"/>
              </a:rPr>
              <a:t>Hardware Robustness: </a:t>
            </a:r>
            <a:r>
              <a:rPr lang="en-IN" sz="2000" dirty="0">
                <a:latin typeface="Bell MT" panose="02020503060305020303" pitchFamily="18" charset="0"/>
              </a:rPr>
              <a:t>Design a custom PCB, rugged connectors, and IP-rated enclosure for field deployment; include hardware watchdogs and RTC-backed logging</a:t>
            </a:r>
            <a:r>
              <a:rPr lang="en-IN" sz="2000" dirty="0" smtClean="0">
                <a:latin typeface="Bell MT" panose="02020503060305020303" pitchFamily="18" charset="0"/>
              </a:rPr>
              <a:t>.</a:t>
            </a:r>
            <a:endParaRPr lang="en-US" sz="2000" b="1" dirty="0">
              <a:latin typeface="Bell MT" panose="02020503060305020303" pitchFamily="18" charset="0"/>
            </a:endParaRPr>
          </a:p>
          <a:p>
            <a:pPr lvl="0"/>
            <a:r>
              <a:rPr lang="en-IN" sz="2000" b="1" dirty="0">
                <a:latin typeface="Bell MT" panose="02020503060305020303" pitchFamily="18" charset="0"/>
              </a:rPr>
              <a:t>Standards &amp; Interoperability</a:t>
            </a:r>
            <a:r>
              <a:rPr lang="en-IN" sz="2000" dirty="0">
                <a:latin typeface="Bell MT" panose="02020503060305020303" pitchFamily="18" charset="0"/>
              </a:rPr>
              <a:t>: Align with multi-hazard early warning frameworks and consider integration with municipal emergency services for automated escalation</a:t>
            </a:r>
            <a:r>
              <a:rPr lang="en-IN" sz="2000" dirty="0" smtClean="0">
                <a:latin typeface="Bell MT" panose="02020503060305020303" pitchFamily="18" charset="0"/>
              </a:rPr>
              <a:t>.</a:t>
            </a:r>
            <a:endParaRPr lang="en-US" sz="2800" dirty="0">
              <a:latin typeface="Bell MT" panose="02020503060305020303" pitchFamily="18" charset="0"/>
            </a:endParaRPr>
          </a:p>
          <a:p>
            <a:endParaRPr sz="2800" dirty="0">
              <a:latin typeface="Bell MT" panose="0202050306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extLst>
      <p:ext uri="{BB962C8B-B14F-4D97-AF65-F5344CB8AC3E}">
        <p14:creationId xmlns:p14="http://schemas.microsoft.com/office/powerpoint/2010/main" val="2857091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6138"/>
            <a:ext cx="8229600" cy="1143000"/>
          </a:xfrm>
        </p:spPr>
        <p:txBody>
          <a:bodyPr vert="horz" lIns="91440" tIns="45720" rIns="91440" bIns="45720" rtlCol="0" anchor="ctr">
            <a:normAutofit/>
          </a:bodyPr>
          <a:lstStyle/>
          <a:p>
            <a:r>
              <a:rPr dirty="0">
                <a:solidFill>
                  <a:srgbClr val="002060"/>
                </a:solidFill>
                <a:latin typeface="Arial Black" panose="020B0A04020102020204" pitchFamily="34" charset="0"/>
              </a:rPr>
              <a:t>References</a:t>
            </a:r>
          </a:p>
        </p:txBody>
      </p:sp>
      <p:sp>
        <p:nvSpPr>
          <p:cNvPr id="3" name="Content Placeholder 2"/>
          <p:cNvSpPr>
            <a:spLocks noGrp="1"/>
          </p:cNvSpPr>
          <p:nvPr>
            <p:ph idx="1"/>
          </p:nvPr>
        </p:nvSpPr>
        <p:spPr>
          <a:xfrm>
            <a:off x="457200" y="2114550"/>
            <a:ext cx="8229600" cy="4525963"/>
          </a:xfrm>
        </p:spPr>
        <p:txBody>
          <a:bodyPr>
            <a:normAutofit fontScale="70000" lnSpcReduction="20000"/>
          </a:bodyPr>
          <a:lstStyle/>
          <a:p>
            <a:pPr lvl="0"/>
            <a:r>
              <a:rPr lang="en-IN" dirty="0">
                <a:latin typeface="Bell MT" panose="02020503060305020303" pitchFamily="18" charset="0"/>
              </a:rPr>
              <a:t>F. M. Mims, </a:t>
            </a:r>
            <a:r>
              <a:rPr lang="en-IN" i="1" dirty="0">
                <a:latin typeface="Bell MT" panose="02020503060305020303" pitchFamily="18" charset="0"/>
              </a:rPr>
              <a:t>Electronic Sensor Circuits &amp; Projects</a:t>
            </a:r>
            <a:r>
              <a:rPr lang="en-IN" dirty="0">
                <a:latin typeface="Bell MT" panose="02020503060305020303" pitchFamily="18" charset="0"/>
              </a:rPr>
              <a:t>, </a:t>
            </a:r>
            <a:r>
              <a:rPr lang="en-IN" dirty="0" err="1">
                <a:latin typeface="Bell MT" panose="02020503060305020303" pitchFamily="18" charset="0"/>
              </a:rPr>
              <a:t>Newnes</a:t>
            </a:r>
            <a:r>
              <a:rPr lang="en-IN" dirty="0">
                <a:latin typeface="Bell MT" panose="02020503060305020303" pitchFamily="18" charset="0"/>
              </a:rPr>
              <a:t>, USA, 2007.</a:t>
            </a:r>
            <a:endParaRPr lang="en-US" b="1" dirty="0">
              <a:latin typeface="Bell MT" panose="02020503060305020303" pitchFamily="18" charset="0"/>
            </a:endParaRPr>
          </a:p>
          <a:p>
            <a:pPr lvl="0"/>
            <a:r>
              <a:rPr lang="en-IN" dirty="0">
                <a:latin typeface="Bell MT" panose="02020503060305020303" pitchFamily="18" charset="0"/>
              </a:rPr>
              <a:t>D. </a:t>
            </a:r>
            <a:r>
              <a:rPr lang="en-IN" dirty="0" err="1">
                <a:latin typeface="Bell MT" panose="02020503060305020303" pitchFamily="18" charset="0"/>
              </a:rPr>
              <a:t>Patranabis</a:t>
            </a:r>
            <a:r>
              <a:rPr lang="en-IN" dirty="0">
                <a:latin typeface="Bell MT" panose="02020503060305020303" pitchFamily="18" charset="0"/>
              </a:rPr>
              <a:t>, </a:t>
            </a:r>
            <a:r>
              <a:rPr lang="en-IN" i="1" dirty="0">
                <a:latin typeface="Bell MT" panose="02020503060305020303" pitchFamily="18" charset="0"/>
              </a:rPr>
              <a:t>Sensors and Transducers</a:t>
            </a:r>
            <a:r>
              <a:rPr lang="en-IN" dirty="0">
                <a:latin typeface="Bell MT" panose="02020503060305020303" pitchFamily="18" charset="0"/>
              </a:rPr>
              <a:t>, 2nd ed., PHI Learning, New Delhi, India, 2010.</a:t>
            </a:r>
            <a:endParaRPr lang="en-US" b="1" dirty="0">
              <a:latin typeface="Bell MT" panose="02020503060305020303" pitchFamily="18" charset="0"/>
            </a:endParaRPr>
          </a:p>
          <a:p>
            <a:pPr lvl="0"/>
            <a:r>
              <a:rPr lang="en-IN" dirty="0">
                <a:latin typeface="Bell MT" panose="02020503060305020303" pitchFamily="18" charset="0"/>
              </a:rPr>
              <a:t>R. K. Rajput, </a:t>
            </a:r>
            <a:r>
              <a:rPr lang="en-IN" i="1" dirty="0">
                <a:latin typeface="Bell MT" panose="02020503060305020303" pitchFamily="18" charset="0"/>
              </a:rPr>
              <a:t>Sensors and Control Systems in Engineering</a:t>
            </a:r>
            <a:r>
              <a:rPr lang="en-IN" dirty="0">
                <a:latin typeface="Bell MT" panose="02020503060305020303" pitchFamily="18" charset="0"/>
              </a:rPr>
              <a:t>, S. Chand &amp; Company, New Delhi, India, 2014.</a:t>
            </a:r>
            <a:endParaRPr lang="en-US" b="1" dirty="0">
              <a:latin typeface="Bell MT" panose="02020503060305020303" pitchFamily="18" charset="0"/>
            </a:endParaRPr>
          </a:p>
          <a:p>
            <a:pPr lvl="0"/>
            <a:r>
              <a:rPr lang="en-IN" dirty="0">
                <a:latin typeface="Bell MT" panose="02020503060305020303" pitchFamily="18" charset="0"/>
              </a:rPr>
              <a:t>A. Sharma and R. Kumar, “</a:t>
            </a:r>
            <a:r>
              <a:rPr lang="en-IN" dirty="0" err="1">
                <a:latin typeface="Bell MT" panose="02020503060305020303" pitchFamily="18" charset="0"/>
              </a:rPr>
              <a:t>Arduino</a:t>
            </a:r>
            <a:r>
              <a:rPr lang="en-IN" dirty="0">
                <a:latin typeface="Bell MT" panose="02020503060305020303" pitchFamily="18" charset="0"/>
              </a:rPr>
              <a:t>-Based Fire Detection and Alarm System,” </a:t>
            </a:r>
            <a:r>
              <a:rPr lang="en-IN" i="1" dirty="0">
                <a:latin typeface="Bell MT" panose="02020503060305020303" pitchFamily="18" charset="0"/>
              </a:rPr>
              <a:t>International Journal of Engineering Research &amp; Technology (IJERT)</a:t>
            </a:r>
            <a:r>
              <a:rPr lang="en-IN" dirty="0">
                <a:latin typeface="Bell MT" panose="02020503060305020303" pitchFamily="18" charset="0"/>
              </a:rPr>
              <a:t>, vol. 8, no. 6, pp. 245–249, 2019.</a:t>
            </a:r>
            <a:endParaRPr lang="en-US" b="1" dirty="0">
              <a:latin typeface="Bell MT" panose="02020503060305020303" pitchFamily="18" charset="0"/>
            </a:endParaRPr>
          </a:p>
          <a:p>
            <a:pPr lvl="0"/>
            <a:r>
              <a:rPr lang="en-IN" dirty="0">
                <a:latin typeface="Bell MT" panose="02020503060305020303" pitchFamily="18" charset="0"/>
              </a:rPr>
              <a:t>R. Suresh and J. Thomas, “</a:t>
            </a:r>
            <a:r>
              <a:rPr lang="en-IN" dirty="0" err="1">
                <a:latin typeface="Bell MT" panose="02020503060305020303" pitchFamily="18" charset="0"/>
              </a:rPr>
              <a:t>Arduino</a:t>
            </a:r>
            <a:r>
              <a:rPr lang="en-IN" dirty="0">
                <a:latin typeface="Bell MT" panose="02020503060305020303" pitchFamily="18" charset="0"/>
              </a:rPr>
              <a:t>-Based Flood Monitoring and Alert System,” </a:t>
            </a:r>
            <a:r>
              <a:rPr lang="en-IN" i="1" dirty="0">
                <a:latin typeface="Bell MT" panose="02020503060305020303" pitchFamily="18" charset="0"/>
              </a:rPr>
              <a:t>International Journal of Scientific Research in Engineering and Technology</a:t>
            </a:r>
            <a:r>
              <a:rPr lang="en-IN" dirty="0">
                <a:latin typeface="Bell MT" panose="02020503060305020303" pitchFamily="18" charset="0"/>
              </a:rPr>
              <a:t>, vol. 10, no. 4, pp. 89–93, </a:t>
            </a:r>
            <a:r>
              <a:rPr lang="en-IN" dirty="0" smtClean="0">
                <a:latin typeface="Bell MT" panose="02020503060305020303" pitchFamily="18" charset="0"/>
              </a:rPr>
              <a:t>2021.</a:t>
            </a:r>
            <a:endParaRPr lang="en-US" b="1" dirty="0">
              <a:latin typeface="Bell MT" panose="02020503060305020303" pitchFamily="18" charset="0"/>
            </a:endParaRPr>
          </a:p>
          <a:p>
            <a:pPr lvl="0"/>
            <a:r>
              <a:rPr dirty="0" smtClean="0">
                <a:latin typeface="Bell MT" panose="02020503060305020303" pitchFamily="18" charset="0"/>
              </a:rPr>
              <a:t>Datasheets and manuals</a:t>
            </a:r>
            <a:endParaRPr dirty="0">
              <a:latin typeface="Bell MT" panose="0202050306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65" y="157571"/>
            <a:ext cx="3581723" cy="105605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2531" y="193391"/>
            <a:ext cx="2419688" cy="5144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TotalTime>
  <Words>845</Words>
  <Application>Microsoft Office PowerPoint</Application>
  <PresentationFormat>On-screen Show (4:3)</PresentationFormat>
  <Paragraphs>72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Algerian</vt:lpstr>
      <vt:lpstr>Arial</vt:lpstr>
      <vt:lpstr>Arial Black</vt:lpstr>
      <vt:lpstr>Bell MT</vt:lpstr>
      <vt:lpstr>Calibri</vt:lpstr>
      <vt:lpstr>Office Theme</vt:lpstr>
      <vt:lpstr>Arduino-Based Multi-Sensor Hazard Monitoring and Early Warning Unit </vt:lpstr>
      <vt:lpstr> Introduction</vt:lpstr>
      <vt:lpstr> Introduction[Motivation]</vt:lpstr>
      <vt:lpstr>Objectives</vt:lpstr>
      <vt:lpstr>Methodology</vt:lpstr>
      <vt:lpstr>Experimental Setup </vt:lpstr>
      <vt:lpstr> Circuit Diagram</vt:lpstr>
      <vt:lpstr>Component List</vt:lpstr>
      <vt:lpstr>Working Principle</vt:lpstr>
      <vt:lpstr>Results &amp; Discussion</vt:lpstr>
      <vt:lpstr>Conclusion</vt:lpstr>
      <vt:lpstr>Future Prospects</vt:lpstr>
      <vt:lpstr>References</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 Lab Project Title</dc:title>
  <dc:subject/>
  <dc:creator>Admin</dc:creator>
  <cp:keywords/>
  <dc:description>generated using python-pptx</dc:description>
  <cp:lastModifiedBy>Admin</cp:lastModifiedBy>
  <cp:revision>8</cp:revision>
  <dcterms:created xsi:type="dcterms:W3CDTF">2013-01-27T09:14:16Z</dcterms:created>
  <dcterms:modified xsi:type="dcterms:W3CDTF">2025-12-15T15:56:21Z</dcterms:modified>
  <cp:category/>
</cp:coreProperties>
</file>