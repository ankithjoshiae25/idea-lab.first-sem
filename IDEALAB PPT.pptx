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56" r:id="rId2"/>
  </p:sldIdLst>
  <p:sldSz cx="15119350" cy="21383625"/>
  <p:notesSz cx="6858000" cy="9144000"/>
  <p:embeddedFontLst>
    <p:embeddedFont>
      <p:font typeface="Mangal" panose="02040503050203030202" pitchFamily="18" charset="0"/>
      <p:regular r:id="rId4"/>
      <p:bold r:id="rId5"/>
    </p:embeddedFont>
    <p:embeddedFont>
      <p:font typeface="Georgia" panose="02040502050405020303" pitchFamily="18" charset="0"/>
      <p:regular r:id="rId6"/>
      <p:bold r:id="rId7"/>
      <p:italic r:id="rId8"/>
      <p:boldItalic r:id="rId9"/>
    </p:embeddedFont>
    <p:embeddedFont>
      <p:font typeface="Calibri" panose="020F0502020204030204" pitchFamily="34" charset="0"/>
      <p:regular r:id="rId10"/>
      <p:bold r:id="rId11"/>
      <p:italic r:id="rId12"/>
      <p:boldItalic r:id="rId13"/>
    </p:embeddedFont>
    <p:embeddedFont>
      <p:font typeface="Playfair Display" panose="020B0604020202020204" charset="0"/>
      <p:regular r:id="rId14"/>
      <p:bold r:id="rId15"/>
      <p:italic r:id="rId16"/>
      <p:boldItalic r:id="rId17"/>
    </p:embeddedFont>
    <p:embeddedFont>
      <p:font typeface="Bell MT" panose="02020503060305020303" pitchFamily="18" charset="0"/>
      <p:regular r:id="rId18"/>
      <p:bold r:id="rId19"/>
      <p:italic r:id="rId20"/>
    </p:embeddedFont>
    <p:embeddedFont>
      <p:font typeface="Comic Sans MS" panose="030F0702030302020204" pitchFamily="66" charset="0"/>
      <p:regular r:id="rId21"/>
      <p:bold r:id="rId22"/>
      <p:italic r:id="rId23"/>
      <p:boldItalic r:id="rId24"/>
    </p:embeddedFont>
    <p:embeddedFont>
      <p:font typeface="Trebuchet MS" panose="020B0603020202020204" pitchFamily="34" charset="0"/>
      <p:regular r:id="rId25"/>
      <p:bold r:id="rId26"/>
      <p:italic r:id="rId27"/>
      <p:boldItalic r:id="rId28"/>
    </p:embeddedFont>
    <p:embeddedFont>
      <p:font typeface="Calibri Light" panose="020F0302020204030204" pitchFamily="34" charset="0"/>
      <p:regular r:id="rId29"/>
      <p:italic r:id="rId30"/>
    </p:embeddedFont>
    <p:embeddedFont>
      <p:font typeface="Tahoma" panose="020B0604030504040204" pitchFamily="34" charset="0"/>
      <p:regular r:id="rId31"/>
      <p:bold r:id="rId32"/>
    </p:embeddedFont>
    <p:embeddedFont>
      <p:font typeface="Algerian" panose="04020705040A02060702" pitchFamily="82" charset="0"/>
      <p:regular r:id="rId3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35" userDrawn="1">
          <p15:clr>
            <a:srgbClr val="A4A3A4"/>
          </p15:clr>
        </p15:guide>
        <p15:guide id="2" pos="4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BC1AC2-3DB8-4E3C-9825-E9A2A8977B79}" v="21" dt="2025-05-21T05:28:47.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58" autoAdjust="0"/>
  </p:normalViewPr>
  <p:slideViewPr>
    <p:cSldViewPr snapToGrid="0">
      <p:cViewPr>
        <p:scale>
          <a:sx n="50" d="100"/>
          <a:sy n="50" d="100"/>
        </p:scale>
        <p:origin x="1602" y="-2964"/>
      </p:cViewPr>
      <p:guideLst>
        <p:guide orient="horz" pos="6735"/>
        <p:guide pos="47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0.fntdata"/><Relationship Id="rId18" Type="http://schemas.openxmlformats.org/officeDocument/2006/relationships/font" Target="fonts/font15.fntdata"/><Relationship Id="rId26" Type="http://schemas.openxmlformats.org/officeDocument/2006/relationships/font" Target="fonts/font23.fntdata"/><Relationship Id="rId21" Type="http://schemas.openxmlformats.org/officeDocument/2006/relationships/font" Target="fonts/font18.fntdata"/><Relationship Id="rId34" Type="http://schemas.openxmlformats.org/officeDocument/2006/relationships/presProps" Target="presProps.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font" Target="fonts/font22.fntdata"/><Relationship Id="rId33" Type="http://schemas.openxmlformats.org/officeDocument/2006/relationships/font" Target="fonts/font30.fnt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29" Type="http://schemas.openxmlformats.org/officeDocument/2006/relationships/font" Target="fonts/font26.fntdata"/><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font" Target="fonts/font21.fntdata"/><Relationship Id="rId32" Type="http://schemas.openxmlformats.org/officeDocument/2006/relationships/font" Target="fonts/font29.fntdata"/><Relationship Id="rId37" Type="http://schemas.openxmlformats.org/officeDocument/2006/relationships/tableStyles" Target="tableStyles.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font" Target="fonts/font20.fntdata"/><Relationship Id="rId28" Type="http://schemas.openxmlformats.org/officeDocument/2006/relationships/font" Target="fonts/font25.fntdata"/><Relationship Id="rId36" Type="http://schemas.openxmlformats.org/officeDocument/2006/relationships/theme" Target="theme/theme1.xml"/><Relationship Id="rId10" Type="http://schemas.openxmlformats.org/officeDocument/2006/relationships/font" Target="fonts/font7.fntdata"/><Relationship Id="rId19" Type="http://schemas.openxmlformats.org/officeDocument/2006/relationships/font" Target="fonts/font16.fntdata"/><Relationship Id="rId31" Type="http://schemas.openxmlformats.org/officeDocument/2006/relationships/font" Target="fonts/font28.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font" Target="fonts/font19.fntdata"/><Relationship Id="rId27" Type="http://schemas.openxmlformats.org/officeDocument/2006/relationships/font" Target="fonts/font24.fntdata"/><Relationship Id="rId30" Type="http://schemas.openxmlformats.org/officeDocument/2006/relationships/font" Target="fonts/font27.fntdata"/><Relationship Id="rId35" Type="http://schemas.openxmlformats.org/officeDocument/2006/relationships/viewProps" Target="viewProps.xml"/><Relationship Id="rId8" Type="http://schemas.openxmlformats.org/officeDocument/2006/relationships/font" Target="fonts/font5.fntdata"/><Relationship Id="rId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81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rPr>
              <a:t>‹#›</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7574349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707"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rPr>
              <a:t>1</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86" name="Google Shape;86;p1: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10486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n-US"/>
              <a:t>Click to edit Master title style</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443584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555096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n-US"/>
              <a:t>Click to edit Master title style</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solidFill>
              </a:defRPr>
            </a:lvl1pPr>
            <a:lvl2pPr marL="755980" indent="0">
              <a:buNone/>
              <a:defRPr sz="3307">
                <a:solidFill>
                  <a:schemeClr val="tx1">
                    <a:tint val="75000"/>
                  </a:schemeClr>
                </a:solidFill>
              </a:defRPr>
            </a:lvl2pPr>
            <a:lvl3pPr marL="1511960" indent="0">
              <a:buNone/>
              <a:defRPr sz="2976">
                <a:solidFill>
                  <a:schemeClr val="tx1">
                    <a:tint val="75000"/>
                  </a:schemeClr>
                </a:solidFill>
              </a:defRPr>
            </a:lvl3pPr>
            <a:lvl4pPr marL="2267941" indent="0">
              <a:buNone/>
              <a:defRPr sz="2646">
                <a:solidFill>
                  <a:schemeClr val="tx1">
                    <a:tint val="75000"/>
                  </a:schemeClr>
                </a:solidFill>
              </a:defRPr>
            </a:lvl4pPr>
            <a:lvl5pPr marL="3023921" indent="0">
              <a:buNone/>
              <a:defRPr sz="2646">
                <a:solidFill>
                  <a:schemeClr val="tx1">
                    <a:tint val="75000"/>
                  </a:schemeClr>
                </a:solidFill>
              </a:defRPr>
            </a:lvl5pPr>
            <a:lvl6pPr marL="3779901" indent="0">
              <a:buNone/>
              <a:defRPr sz="2646">
                <a:solidFill>
                  <a:schemeClr val="tx1">
                    <a:tint val="75000"/>
                  </a:schemeClr>
                </a:solidFill>
              </a:defRPr>
            </a:lvl6pPr>
            <a:lvl7pPr marL="4535881" indent="0">
              <a:buNone/>
              <a:defRPr sz="2646">
                <a:solidFill>
                  <a:schemeClr val="tx1">
                    <a:tint val="75000"/>
                  </a:schemeClr>
                </a:solidFill>
              </a:defRPr>
            </a:lvl7pPr>
            <a:lvl8pPr marL="5291861" indent="0">
              <a:buNone/>
              <a:defRPr sz="2646">
                <a:solidFill>
                  <a:schemeClr val="tx1">
                    <a:tint val="75000"/>
                  </a:schemeClr>
                </a:solidFill>
              </a:defRPr>
            </a:lvl8pPr>
            <a:lvl9pPr marL="6047842" indent="0">
              <a:buNone/>
              <a:defRPr sz="264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1482014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2401878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n-US"/>
              <a:t>Click to edit Master text styles</a:t>
            </a:r>
          </a:p>
        </p:txBody>
      </p:sp>
      <p:sp>
        <p:nvSpPr>
          <p:cNvPr id="4" name="Content Placeholder 3"/>
          <p:cNvSpPr>
            <a:spLocks noGrp="1"/>
          </p:cNvSpPr>
          <p:nvPr>
            <p:ph sz="half" idx="2"/>
          </p:nvPr>
        </p:nvSpPr>
        <p:spPr>
          <a:xfrm>
            <a:off x="1041426" y="7810963"/>
            <a:ext cx="639619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n-US"/>
              <a:t>Click to edit Master text styles</a:t>
            </a:r>
          </a:p>
        </p:txBody>
      </p:sp>
      <p:sp>
        <p:nvSpPr>
          <p:cNvPr id="6" name="Content Placeholder 5"/>
          <p:cNvSpPr>
            <a:spLocks noGrp="1"/>
          </p:cNvSpPr>
          <p:nvPr>
            <p:ph sz="quarter" idx="4"/>
          </p:nvPr>
        </p:nvSpPr>
        <p:spPr>
          <a:xfrm>
            <a:off x="7654172" y="7810963"/>
            <a:ext cx="642769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2102957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4195749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129698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n-US"/>
              <a:t>Click to edit Master title style</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148192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n-US"/>
              <a:t>Click icon to add picture</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2622012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13136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000000-1234-1234-1234-123412341234}" type="slidenum">
              <a:rPr lang="en-IN" smtClean="0"/>
              <a:pPr/>
              <a:t>‹#›</a:t>
            </a:fld>
            <a:endParaRPr lang="en-IN"/>
          </a:p>
        </p:txBody>
      </p:sp>
    </p:spTree>
    <p:extLst>
      <p:ext uri="{BB962C8B-B14F-4D97-AF65-F5344CB8AC3E}">
        <p14:creationId xmlns:p14="http://schemas.microsoft.com/office/powerpoint/2010/main" val="2356087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75000"/>
                  </a:schemeClr>
                </a:solidFill>
              </a:defRPr>
            </a:lvl1pPr>
          </a:lstStyle>
          <a:p>
            <a:fld id="{00000000-1234-1234-1234-123412341234}" type="slidenum">
              <a:rPr lang="en-IN" smtClean="0"/>
              <a:pPr/>
              <a:t>‹#›</a:t>
            </a:fld>
            <a:endParaRPr lang="en-IN"/>
          </a:p>
        </p:txBody>
      </p:sp>
    </p:spTree>
    <p:extLst>
      <p:ext uri="{BB962C8B-B14F-4D97-AF65-F5344CB8AC3E}">
        <p14:creationId xmlns:p14="http://schemas.microsoft.com/office/powerpoint/2010/main" val="9625053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88"/>
        <p:cNvGrpSpPr/>
        <p:nvPr/>
      </p:nvGrpSpPr>
      <p:grpSpPr>
        <a:xfrm>
          <a:off x="0" y="0"/>
          <a:ext cx="0" cy="0"/>
          <a:chOff x="0" y="0"/>
          <a:chExt cx="0" cy="0"/>
        </a:xfrm>
      </p:grpSpPr>
      <p:sp>
        <p:nvSpPr>
          <p:cNvPr id="89" name="Google Shape;89;p1"/>
          <p:cNvSpPr/>
          <p:nvPr/>
        </p:nvSpPr>
        <p:spPr>
          <a:xfrm>
            <a:off x="7710237" y="1866335"/>
            <a:ext cx="7316458" cy="19038141"/>
          </a:xfrm>
          <a:prstGeom prst="roundRect">
            <a:avLst>
              <a:gd name="adj" fmla="val 2556"/>
            </a:avLst>
          </a:prstGeom>
          <a:solidFill>
            <a:schemeClr val="lt1"/>
          </a:solidFill>
          <a:ln w="9525" cap="flat" cmpd="sng">
            <a:solidFill>
              <a:schemeClr val="dk1"/>
            </a:solidFill>
            <a:prstDash val="solid"/>
            <a:round/>
            <a:headEnd type="none" w="sm" len="sm"/>
            <a:tailEnd type="none" w="sm" len="sm"/>
          </a:ln>
        </p:spPr>
        <p:txBody>
          <a:bodyPr spcFirstLastPara="1" wrap="square" lIns="38271" tIns="19130" rIns="38271" bIns="19130" anchor="ctr" anchorCtr="0">
            <a:noAutofit/>
          </a:bodyPr>
          <a:lstStyle/>
          <a:p>
            <a:r>
              <a:rPr lang="en-US" b="1" u="sng" dirty="0">
                <a:solidFill>
                  <a:schemeClr val="tx2">
                    <a:lumMod val="50000"/>
                  </a:schemeClr>
                </a:solidFill>
                <a:latin typeface="Bell MT" panose="02020503060305020303" pitchFamily="18" charset="0"/>
              </a:rPr>
              <a:t>Quantitative Results</a:t>
            </a:r>
          </a:p>
          <a:p>
            <a:pPr lvl="0"/>
            <a:r>
              <a:rPr lang="en-US" b="1" dirty="0">
                <a:latin typeface="Bell MT" panose="02020503060305020303" pitchFamily="18" charset="0"/>
              </a:rPr>
              <a:t>Fire Sensor: </a:t>
            </a:r>
            <a:r>
              <a:rPr lang="en-US" dirty="0">
                <a:latin typeface="Bell MT" panose="02020503060305020303" pitchFamily="18" charset="0"/>
              </a:rPr>
              <a:t> The flame sensor registered the presence of an open flame within fractions of a second at close range.</a:t>
            </a:r>
          </a:p>
          <a:p>
            <a:pPr lvl="0"/>
            <a:r>
              <a:rPr lang="en-US" b="1" dirty="0">
                <a:latin typeface="Bell MT" panose="02020503060305020303" pitchFamily="18" charset="0"/>
              </a:rPr>
              <a:t>Gas Sensor:</a:t>
            </a:r>
            <a:r>
              <a:rPr lang="en-US" dirty="0">
                <a:latin typeface="Bell MT" panose="02020503060305020303" pitchFamily="18" charset="0"/>
              </a:rPr>
              <a:t>MQ-135 outputs required the standard warm-up (stabilization) time; after warm-up the module detected concentration changes reliably</a:t>
            </a:r>
          </a:p>
          <a:p>
            <a:pPr lvl="0"/>
            <a:r>
              <a:rPr lang="en-US" b="1" dirty="0">
                <a:latin typeface="Bell MT" panose="02020503060305020303" pitchFamily="18" charset="0"/>
              </a:rPr>
              <a:t>Water-level sensor:</a:t>
            </a:r>
            <a:r>
              <a:rPr lang="en-US" dirty="0">
                <a:latin typeface="Bell MT" panose="02020503060305020303" pitchFamily="18" charset="0"/>
              </a:rPr>
              <a:t> The water-level sensor worked as expected, When the water level rose above a certain pre-defined threshold limit, A alert was triggered to warn the rise in water-level </a:t>
            </a:r>
          </a:p>
          <a:p>
            <a:pPr lvl="0"/>
            <a:r>
              <a:rPr lang="en-US" b="1" dirty="0">
                <a:latin typeface="Bell MT" panose="02020503060305020303" pitchFamily="18" charset="0"/>
              </a:rPr>
              <a:t>Vibration Sensor:</a:t>
            </a:r>
            <a:r>
              <a:rPr lang="en-US" dirty="0">
                <a:latin typeface="Bell MT" panose="02020503060305020303" pitchFamily="18" charset="0"/>
              </a:rPr>
              <a:t> SW-420 reliably toggled its digital output on light taps and stronger shakes</a:t>
            </a:r>
            <a:r>
              <a:rPr lang="en-US" dirty="0" smtClean="0">
                <a:latin typeface="Bell MT" panose="02020503060305020303" pitchFamily="18" charset="0"/>
              </a:rPr>
              <a:t>.</a:t>
            </a:r>
          </a:p>
          <a:p>
            <a:pPr lvl="0"/>
            <a:endParaRPr lang="en-US" dirty="0">
              <a:latin typeface="Bell MT" panose="02020503060305020303" pitchFamily="18" charset="0"/>
            </a:endParaRPr>
          </a:p>
          <a:p>
            <a:r>
              <a:rPr lang="en-US" b="1" u="sng" dirty="0">
                <a:latin typeface="Bell MT" panose="02020503060305020303" pitchFamily="18" charset="0"/>
              </a:rPr>
              <a:t>ALERTING</a:t>
            </a:r>
          </a:p>
          <a:p>
            <a:r>
              <a:rPr lang="en-US" dirty="0">
                <a:latin typeface="Bell MT" panose="02020503060305020303" pitchFamily="18" charset="0"/>
              </a:rPr>
              <a:t>The hazard detection system activated the specific LEDs and the Buzzer almost instantly for the flame and vibration sensor but was slightly delayed for the Gas and Water-level sensor based on speed on </a:t>
            </a:r>
            <a:r>
              <a:rPr lang="en-US" dirty="0" smtClean="0">
                <a:latin typeface="Bell MT" panose="02020503060305020303" pitchFamily="18" charset="0"/>
              </a:rPr>
              <a:t>immersion</a:t>
            </a:r>
          </a:p>
          <a:p>
            <a:endParaRPr lang="en-US" dirty="0">
              <a:latin typeface="Bell MT" panose="02020503060305020303" pitchFamily="18" charset="0"/>
            </a:endParaRPr>
          </a:p>
          <a:p>
            <a:endParaRPr lang="en-US" dirty="0">
              <a:latin typeface="Bell MT" panose="02020503060305020303" pitchFamily="18" charset="0"/>
            </a:endParaRPr>
          </a:p>
          <a:p>
            <a:pPr lvl="0"/>
            <a:endParaRPr lang="en-IN" dirty="0" smtClean="0">
              <a:latin typeface="Bell MT" panose="02020503060305020303" pitchFamily="18" charset="0"/>
            </a:endParaRPr>
          </a:p>
          <a:p>
            <a:pPr lvl="0"/>
            <a:endParaRPr lang="en-IN" dirty="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a:latin typeface="Bell MT" panose="02020503060305020303" pitchFamily="18" charset="0"/>
            </a:endParaRPr>
          </a:p>
          <a:p>
            <a:pPr lvl="0"/>
            <a:endParaRPr lang="en-IN" sz="1200" dirty="0" smtClean="0">
              <a:latin typeface="Bell MT" panose="02020503060305020303" pitchFamily="18" charset="0"/>
            </a:endParaRPr>
          </a:p>
          <a:p>
            <a:pPr lvl="0"/>
            <a:r>
              <a:rPr lang="en-IN" sz="2000" dirty="0" smtClean="0">
                <a:latin typeface="Bell MT" panose="02020503060305020303" pitchFamily="18" charset="0"/>
              </a:rPr>
              <a:t>The project is successfully tested and validated for alerting of disasters like </a:t>
            </a:r>
            <a:r>
              <a:rPr lang="en-IN" sz="2000" dirty="0" err="1" smtClean="0">
                <a:latin typeface="Bell MT" panose="02020503060305020303" pitchFamily="18" charset="0"/>
              </a:rPr>
              <a:t>earthquake,flood,volcanic</a:t>
            </a:r>
            <a:r>
              <a:rPr lang="en-IN" sz="2000" dirty="0" smtClean="0">
                <a:latin typeface="Bell MT" panose="02020503060305020303" pitchFamily="18" charset="0"/>
              </a:rPr>
              <a:t> </a:t>
            </a:r>
            <a:r>
              <a:rPr lang="en-IN" sz="2000" dirty="0" err="1" smtClean="0">
                <a:latin typeface="Bell MT" panose="02020503060305020303" pitchFamily="18" charset="0"/>
              </a:rPr>
              <a:t>eruption,etc.The</a:t>
            </a:r>
            <a:r>
              <a:rPr lang="en-IN" sz="2000" dirty="0" smtClean="0">
                <a:latin typeface="Bell MT" panose="02020503060305020303" pitchFamily="18" charset="0"/>
              </a:rPr>
              <a:t> project successfully detects the </a:t>
            </a:r>
            <a:r>
              <a:rPr lang="en-IN" sz="2000" dirty="0" err="1" smtClean="0">
                <a:latin typeface="Bell MT" panose="02020503060305020303" pitchFamily="18" charset="0"/>
              </a:rPr>
              <a:t>flame,changes</a:t>
            </a:r>
            <a:r>
              <a:rPr lang="en-IN" sz="2000" dirty="0" smtClean="0">
                <a:latin typeface="Bell MT" panose="02020503060305020303" pitchFamily="18" charset="0"/>
              </a:rPr>
              <a:t> in </a:t>
            </a:r>
            <a:r>
              <a:rPr lang="en-IN" sz="2000" dirty="0" err="1" smtClean="0">
                <a:latin typeface="Bell MT" panose="02020503060305020303" pitchFamily="18" charset="0"/>
              </a:rPr>
              <a:t>concentration,water</a:t>
            </a:r>
            <a:r>
              <a:rPr lang="en-IN" sz="2000" dirty="0" smtClean="0">
                <a:latin typeface="Bell MT" panose="02020503060305020303" pitchFamily="18" charset="0"/>
              </a:rPr>
              <a:t> lever and the vibrations for predicting disaster and noticing it. </a:t>
            </a:r>
          </a:p>
          <a:p>
            <a:pPr lvl="0"/>
            <a:endParaRPr lang="en-IN" sz="2000" dirty="0">
              <a:latin typeface="Bell MT" panose="02020503060305020303" pitchFamily="18" charset="0"/>
            </a:endParaRPr>
          </a:p>
          <a:p>
            <a:pPr lvl="0"/>
            <a:endParaRPr lang="en-IN" sz="2000" dirty="0" smtClean="0">
              <a:latin typeface="Bell MT" panose="02020503060305020303" pitchFamily="18" charset="0"/>
            </a:endParaRPr>
          </a:p>
          <a:p>
            <a:pPr lvl="0"/>
            <a:endParaRPr lang="en-IN" sz="2000" dirty="0">
              <a:latin typeface="Bell MT" panose="02020503060305020303" pitchFamily="18" charset="0"/>
            </a:endParaRPr>
          </a:p>
          <a:p>
            <a:pPr lvl="0"/>
            <a:endParaRPr lang="en-IN" sz="2000" dirty="0" smtClean="0">
              <a:latin typeface="Bell MT" panose="02020503060305020303" pitchFamily="18" charset="0"/>
            </a:endParaRPr>
          </a:p>
          <a:p>
            <a:pPr lvl="0"/>
            <a:endParaRPr lang="en-IN" sz="2000" dirty="0">
              <a:latin typeface="Bell MT" panose="02020503060305020303" pitchFamily="18" charset="0"/>
            </a:endParaRPr>
          </a:p>
          <a:p>
            <a:pPr lvl="0"/>
            <a:endParaRPr lang="en-IN" sz="2000" dirty="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a:latin typeface="Bell MT" panose="02020503060305020303" pitchFamily="18" charset="0"/>
            </a:endParaRPr>
          </a:p>
          <a:p>
            <a:pPr lvl="0"/>
            <a:endParaRPr lang="en-IN" sz="1200" dirty="0" smtClean="0">
              <a:latin typeface="Bell MT" panose="02020503060305020303" pitchFamily="18" charset="0"/>
            </a:endParaRPr>
          </a:p>
          <a:p>
            <a:pPr lvl="0"/>
            <a:r>
              <a:rPr lang="en-US" dirty="0" smtClean="0">
                <a:latin typeface="Bell MT" panose="02020503060305020303" pitchFamily="18" charset="0"/>
              </a:rPr>
              <a:t>The </a:t>
            </a:r>
            <a:r>
              <a:rPr lang="en-US" dirty="0">
                <a:latin typeface="Bell MT" panose="02020503060305020303" pitchFamily="18" charset="0"/>
              </a:rPr>
              <a:t>measurable outcomes for a multi-sensor hazard monitoring and early warning unit encompass three critical areas: System Efficiency, Warning Effectiveness, and Impact Reduction. The ultimate success is measured by Impact Reduction, specifically the proven increase in Community Response Compliance Rate (e.g., &gt;80\% of people taking recommended action) and the quantifiable decrease in Injuries, Fatalities, and Economic Losses directly attributable to the system's timely warnings.</a:t>
            </a:r>
            <a:endParaRPr lang="en-IN" dirty="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a:latin typeface="Bell MT" panose="02020503060305020303" pitchFamily="18" charset="0"/>
            </a:endParaRPr>
          </a:p>
          <a:p>
            <a:pPr lvl="0"/>
            <a:endParaRPr lang="en-IN" sz="1200" dirty="0" smtClean="0">
              <a:latin typeface="Bell MT" panose="02020503060305020303" pitchFamily="18" charset="0"/>
            </a:endParaRPr>
          </a:p>
          <a:p>
            <a:pPr lvl="0"/>
            <a:endParaRPr lang="en-IN" sz="1200" dirty="0">
              <a:latin typeface="Bell MT" panose="02020503060305020303" pitchFamily="18" charset="0"/>
            </a:endParaRPr>
          </a:p>
          <a:p>
            <a:pPr lvl="0"/>
            <a:endParaRPr lang="en-IN" sz="1200" dirty="0" smtClean="0">
              <a:latin typeface="Bell MT" panose="02020503060305020303" pitchFamily="18" charset="0"/>
            </a:endParaRPr>
          </a:p>
          <a:p>
            <a:pPr lvl="0"/>
            <a:r>
              <a:rPr lang="en-IN" sz="1400" dirty="0" smtClean="0">
                <a:latin typeface="Bell MT" panose="02020503060305020303" pitchFamily="18" charset="0"/>
              </a:rPr>
              <a:t>F</a:t>
            </a:r>
            <a:r>
              <a:rPr lang="en-IN" sz="1400" dirty="0">
                <a:latin typeface="Bell MT" panose="02020503060305020303" pitchFamily="18" charset="0"/>
              </a:rPr>
              <a:t>. M. Mims, </a:t>
            </a:r>
            <a:r>
              <a:rPr lang="en-IN" sz="1400" i="1" dirty="0">
                <a:latin typeface="Bell MT" panose="02020503060305020303" pitchFamily="18" charset="0"/>
              </a:rPr>
              <a:t>Electronic Sensor Circuits &amp; Projects</a:t>
            </a:r>
            <a:r>
              <a:rPr lang="en-IN" sz="1400" dirty="0">
                <a:latin typeface="Bell MT" panose="02020503060305020303" pitchFamily="18" charset="0"/>
              </a:rPr>
              <a:t>, </a:t>
            </a:r>
            <a:r>
              <a:rPr lang="en-IN" sz="1400" dirty="0" err="1">
                <a:latin typeface="Bell MT" panose="02020503060305020303" pitchFamily="18" charset="0"/>
              </a:rPr>
              <a:t>Newnes</a:t>
            </a:r>
            <a:r>
              <a:rPr lang="en-IN" sz="1400" dirty="0">
                <a:latin typeface="Bell MT" panose="02020503060305020303" pitchFamily="18" charset="0"/>
              </a:rPr>
              <a:t>, USA, 2007.</a:t>
            </a:r>
            <a:endParaRPr lang="en-US" sz="1400" b="1" dirty="0">
              <a:latin typeface="Bell MT" panose="02020503060305020303" pitchFamily="18" charset="0"/>
            </a:endParaRPr>
          </a:p>
          <a:p>
            <a:pPr lvl="0"/>
            <a:r>
              <a:rPr lang="en-IN" sz="1400" dirty="0">
                <a:latin typeface="Bell MT" panose="02020503060305020303" pitchFamily="18" charset="0"/>
              </a:rPr>
              <a:t>D. </a:t>
            </a:r>
            <a:r>
              <a:rPr lang="en-IN" sz="1400" dirty="0" err="1">
                <a:latin typeface="Bell MT" panose="02020503060305020303" pitchFamily="18" charset="0"/>
              </a:rPr>
              <a:t>Patranabis</a:t>
            </a:r>
            <a:r>
              <a:rPr lang="en-IN" sz="1400" dirty="0">
                <a:latin typeface="Bell MT" panose="02020503060305020303" pitchFamily="18" charset="0"/>
              </a:rPr>
              <a:t>, </a:t>
            </a:r>
            <a:r>
              <a:rPr lang="en-IN" sz="1400" i="1" dirty="0">
                <a:latin typeface="Bell MT" panose="02020503060305020303" pitchFamily="18" charset="0"/>
              </a:rPr>
              <a:t>Sensors and Transducers</a:t>
            </a:r>
            <a:r>
              <a:rPr lang="en-IN" sz="1400" dirty="0">
                <a:latin typeface="Bell MT" panose="02020503060305020303" pitchFamily="18" charset="0"/>
              </a:rPr>
              <a:t>, 2nd ed., PHI Learning, New Delhi, India, 2010.</a:t>
            </a:r>
            <a:endParaRPr lang="en-US" sz="1400" b="1" dirty="0">
              <a:latin typeface="Bell MT" panose="02020503060305020303" pitchFamily="18" charset="0"/>
            </a:endParaRPr>
          </a:p>
          <a:p>
            <a:pPr lvl="0"/>
            <a:r>
              <a:rPr lang="en-IN" sz="1400" dirty="0">
                <a:latin typeface="Bell MT" panose="02020503060305020303" pitchFamily="18" charset="0"/>
              </a:rPr>
              <a:t>R. K. Rajput, </a:t>
            </a:r>
            <a:r>
              <a:rPr lang="en-IN" sz="1400" i="1" dirty="0">
                <a:latin typeface="Bell MT" panose="02020503060305020303" pitchFamily="18" charset="0"/>
              </a:rPr>
              <a:t>Sensors and Control Systems in Engineering</a:t>
            </a:r>
            <a:r>
              <a:rPr lang="en-IN" sz="1400" dirty="0">
                <a:latin typeface="Bell MT" panose="02020503060305020303" pitchFamily="18" charset="0"/>
              </a:rPr>
              <a:t>, S. Chand &amp; Company, New Delhi, India, 2014.</a:t>
            </a:r>
            <a:endParaRPr lang="en-US" sz="1400" b="1" dirty="0">
              <a:latin typeface="Bell MT" panose="02020503060305020303" pitchFamily="18" charset="0"/>
            </a:endParaRPr>
          </a:p>
          <a:p>
            <a:pPr lvl="0"/>
            <a:r>
              <a:rPr lang="en-IN" sz="1400" dirty="0">
                <a:latin typeface="Bell MT" panose="02020503060305020303" pitchFamily="18" charset="0"/>
              </a:rPr>
              <a:t>A. Sharma and R. Kumar, “</a:t>
            </a:r>
            <a:r>
              <a:rPr lang="en-IN" sz="1400" dirty="0" err="1">
                <a:latin typeface="Bell MT" panose="02020503060305020303" pitchFamily="18" charset="0"/>
              </a:rPr>
              <a:t>Arduino</a:t>
            </a:r>
            <a:r>
              <a:rPr lang="en-IN" sz="1400" dirty="0">
                <a:latin typeface="Bell MT" panose="02020503060305020303" pitchFamily="18" charset="0"/>
              </a:rPr>
              <a:t>-Based Fire Detection and Alarm System,” </a:t>
            </a:r>
            <a:r>
              <a:rPr lang="en-IN" sz="1400" i="1" dirty="0">
                <a:latin typeface="Bell MT" panose="02020503060305020303" pitchFamily="18" charset="0"/>
              </a:rPr>
              <a:t>International Journal of Engineering Research &amp; Technology (IJERT)</a:t>
            </a:r>
            <a:r>
              <a:rPr lang="en-IN" sz="1400" dirty="0">
                <a:latin typeface="Bell MT" panose="02020503060305020303" pitchFamily="18" charset="0"/>
              </a:rPr>
              <a:t>, vol. 8, no. 6, pp. 245–249, 2019.</a:t>
            </a:r>
            <a:endParaRPr lang="en-US" sz="1400" b="1" dirty="0">
              <a:latin typeface="Bell MT" panose="02020503060305020303" pitchFamily="18" charset="0"/>
            </a:endParaRPr>
          </a:p>
          <a:p>
            <a:pPr lvl="0"/>
            <a:r>
              <a:rPr lang="en-IN" sz="1400" dirty="0">
                <a:latin typeface="Bell MT" panose="02020503060305020303" pitchFamily="18" charset="0"/>
              </a:rPr>
              <a:t>R. Suresh and J. Thomas, “</a:t>
            </a:r>
            <a:r>
              <a:rPr lang="en-IN" sz="1400" dirty="0" err="1">
                <a:latin typeface="Bell MT" panose="02020503060305020303" pitchFamily="18" charset="0"/>
              </a:rPr>
              <a:t>Arduino</a:t>
            </a:r>
            <a:r>
              <a:rPr lang="en-IN" sz="1400" dirty="0">
                <a:latin typeface="Bell MT" panose="02020503060305020303" pitchFamily="18" charset="0"/>
              </a:rPr>
              <a:t>-Based Flood Monitoring and Alert System,” </a:t>
            </a:r>
            <a:r>
              <a:rPr lang="en-IN" sz="1400" i="1" dirty="0">
                <a:latin typeface="Bell MT" panose="02020503060305020303" pitchFamily="18" charset="0"/>
              </a:rPr>
              <a:t>International Journal of Scientific Research in Engineering and Technology</a:t>
            </a:r>
            <a:r>
              <a:rPr lang="en-IN" sz="1400" dirty="0">
                <a:latin typeface="Bell MT" panose="02020503060305020303" pitchFamily="18" charset="0"/>
              </a:rPr>
              <a:t>, vol. 10, no. 4, pp. 89–93, 2021.</a:t>
            </a:r>
            <a:endParaRPr lang="en-US" sz="1400" b="1" dirty="0">
              <a:latin typeface="Bell MT" panose="02020503060305020303" pitchFamily="18" charset="0"/>
            </a:endParaRPr>
          </a:p>
        </p:txBody>
      </p:sp>
      <p:sp>
        <p:nvSpPr>
          <p:cNvPr id="91" name="Google Shape;91;p1"/>
          <p:cNvSpPr/>
          <p:nvPr/>
        </p:nvSpPr>
        <p:spPr>
          <a:xfrm>
            <a:off x="227407" y="2447"/>
            <a:ext cx="14935940" cy="179583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38271" tIns="19130" rIns="38271" bIns="19130" anchor="ctr" anchorCtr="0">
            <a:noAutofit/>
          </a:bodyPr>
          <a:lstStyle/>
          <a:p>
            <a:pPr algn="ctr">
              <a:buClr>
                <a:schemeClr val="dk1"/>
              </a:buClr>
              <a:buSzPts val="4000"/>
            </a:pPr>
            <a:r>
              <a:rPr lang="en-IN" sz="2400" b="1" dirty="0">
                <a:solidFill>
                  <a:srgbClr val="002060"/>
                </a:solidFill>
                <a:latin typeface="Trebuchet MS" panose="020B0603020202020204"/>
                <a:ea typeface="Trebuchet MS" panose="020B0603020202020204"/>
                <a:cs typeface="Trebuchet MS" panose="020B0603020202020204"/>
                <a:sym typeface="Trebuchet MS" panose="020B0603020202020204"/>
              </a:rPr>
              <a:t>RV College of Engineering, Bengaluru – 560059.</a:t>
            </a:r>
          </a:p>
          <a:p>
            <a:pPr algn="ctr">
              <a:buClr>
                <a:schemeClr val="dk1"/>
              </a:buClr>
              <a:buSzPts val="4000"/>
            </a:pPr>
            <a:endParaRPr lang="en-IN" sz="3600" b="1" dirty="0">
              <a:solidFill>
                <a:schemeClr val="dk1"/>
              </a:solidFill>
              <a:latin typeface="Trebuchet MS" panose="020B0603020202020204"/>
              <a:ea typeface="Trebuchet MS" panose="020B0603020202020204"/>
              <a:cs typeface="Trebuchet MS" panose="020B0603020202020204"/>
              <a:sym typeface="Trebuchet MS" panose="020B0603020202020204"/>
            </a:endParaRPr>
          </a:p>
          <a:p>
            <a:pPr algn="ctr">
              <a:buClr>
                <a:schemeClr val="dk1"/>
              </a:buClr>
              <a:buSzPts val="4000"/>
            </a:pPr>
            <a:endParaRPr lang="en-IN" sz="3600" b="1" dirty="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92" name="Google Shape;92;p1"/>
          <p:cNvSpPr txBox="1"/>
          <p:nvPr/>
        </p:nvSpPr>
        <p:spPr>
          <a:xfrm>
            <a:off x="2079591" y="566806"/>
            <a:ext cx="10258425" cy="346410"/>
          </a:xfrm>
          <a:prstGeom prst="rect">
            <a:avLst/>
          </a:prstGeom>
          <a:noFill/>
          <a:ln>
            <a:noFill/>
          </a:ln>
        </p:spPr>
        <p:txBody>
          <a:bodyPr spcFirstLastPara="1" wrap="square" lIns="38271" tIns="19130" rIns="38271" bIns="19130" anchor="t" anchorCtr="0">
            <a:spAutoFit/>
          </a:bodyPr>
          <a:lstStyle/>
          <a:p>
            <a:pPr algn="ctr">
              <a:buClr>
                <a:srgbClr val="990000"/>
              </a:buClr>
              <a:buSzPts val="6000"/>
            </a:pPr>
            <a:r>
              <a:rPr lang="en-IN" sz="2000" b="1" dirty="0" err="1">
                <a:latin typeface="Algerian" panose="04020705040A02060702" pitchFamily="82" charset="0"/>
              </a:rPr>
              <a:t>Arduino</a:t>
            </a:r>
            <a:r>
              <a:rPr lang="en-IN" sz="2000" b="1" dirty="0">
                <a:latin typeface="Algerian" panose="04020705040A02060702" pitchFamily="82" charset="0"/>
              </a:rPr>
              <a:t>-Based Multi-Sensor Hazard Monitoring and Early Warning Unit</a:t>
            </a:r>
            <a:endParaRPr lang="en-IN" sz="2000" b="1" dirty="0">
              <a:solidFill>
                <a:schemeClr val="accent2">
                  <a:lumMod val="50000"/>
                </a:schemeClr>
              </a:solidFill>
              <a:latin typeface="Trebuchet MS" panose="020B0603020202020204"/>
              <a:ea typeface="Tahoma" panose="020B0604030504040204"/>
              <a:cs typeface="Tahoma" panose="020B0604030504040204"/>
              <a:sym typeface="Trebuchet MS" panose="020B0603020202020204"/>
            </a:endParaRPr>
          </a:p>
        </p:txBody>
      </p:sp>
      <p:sp>
        <p:nvSpPr>
          <p:cNvPr id="93" name="Google Shape;93;p1"/>
          <p:cNvSpPr txBox="1"/>
          <p:nvPr/>
        </p:nvSpPr>
        <p:spPr>
          <a:xfrm>
            <a:off x="1" y="1175746"/>
            <a:ext cx="14935978" cy="654187"/>
          </a:xfrm>
          <a:prstGeom prst="rect">
            <a:avLst/>
          </a:prstGeom>
          <a:solidFill>
            <a:schemeClr val="lt1"/>
          </a:solidFill>
          <a:ln>
            <a:noFill/>
          </a:ln>
        </p:spPr>
        <p:txBody>
          <a:bodyPr spcFirstLastPara="1" wrap="square" lIns="38271" tIns="19130" rIns="38271" bIns="19130" anchor="t" anchorCtr="0">
            <a:spAutoFit/>
          </a:bodyPr>
          <a:lstStyle/>
          <a:p>
            <a:pPr algn="ctr">
              <a:buClr>
                <a:srgbClr val="0000FF"/>
              </a:buClr>
              <a:buSzPts val="4400"/>
            </a:pPr>
            <a:r>
              <a:rPr lang="en-US" sz="2000" dirty="0" err="1" smtClean="0">
                <a:solidFill>
                  <a:srgbClr val="002060"/>
                </a:solidFill>
                <a:latin typeface="Times New Roman" panose="02020603050405020304" charset="0"/>
                <a:cs typeface="Times New Roman" panose="02020603050405020304" charset="0"/>
              </a:rPr>
              <a:t>Ankith</a:t>
            </a:r>
            <a:r>
              <a:rPr lang="en-US" sz="2000" dirty="0" smtClean="0">
                <a:solidFill>
                  <a:srgbClr val="002060"/>
                </a:solidFill>
                <a:latin typeface="Times New Roman" panose="02020603050405020304" charset="0"/>
                <a:cs typeface="Times New Roman" panose="02020603050405020304" charset="0"/>
              </a:rPr>
              <a:t> </a:t>
            </a:r>
            <a:r>
              <a:rPr lang="en-US" sz="2000" dirty="0">
                <a:solidFill>
                  <a:srgbClr val="002060"/>
                </a:solidFill>
                <a:latin typeface="Times New Roman" panose="02020603050405020304" charset="0"/>
                <a:cs typeface="Times New Roman" panose="02020603050405020304" charset="0"/>
              </a:rPr>
              <a:t>J</a:t>
            </a:r>
            <a:r>
              <a:rPr lang="en-US" sz="2000" dirty="0" smtClean="0">
                <a:solidFill>
                  <a:srgbClr val="002060"/>
                </a:solidFill>
                <a:latin typeface="Times New Roman" panose="02020603050405020304" charset="0"/>
                <a:cs typeface="Times New Roman" panose="02020603050405020304" charset="0"/>
              </a:rPr>
              <a:t>oshi| </a:t>
            </a:r>
            <a:r>
              <a:rPr lang="en-US" sz="2000" dirty="0" err="1" smtClean="0">
                <a:solidFill>
                  <a:srgbClr val="002060"/>
                </a:solidFill>
                <a:latin typeface="Times New Roman" panose="02020603050405020304" charset="0"/>
                <a:cs typeface="Times New Roman" panose="02020603050405020304" charset="0"/>
              </a:rPr>
              <a:t>Shreyas</a:t>
            </a:r>
            <a:r>
              <a:rPr lang="en-US" sz="2000" dirty="0" smtClean="0">
                <a:solidFill>
                  <a:srgbClr val="002060"/>
                </a:solidFill>
                <a:latin typeface="Times New Roman" panose="02020603050405020304" charset="0"/>
                <a:cs typeface="Times New Roman" panose="02020603050405020304" charset="0"/>
              </a:rPr>
              <a:t> </a:t>
            </a:r>
            <a:r>
              <a:rPr lang="en-US" sz="2000" dirty="0" err="1" smtClean="0">
                <a:solidFill>
                  <a:srgbClr val="002060"/>
                </a:solidFill>
                <a:latin typeface="Times New Roman" panose="02020603050405020304" charset="0"/>
                <a:cs typeface="Times New Roman" panose="02020603050405020304" charset="0"/>
              </a:rPr>
              <a:t>M|Ramanuja</a:t>
            </a:r>
            <a:r>
              <a:rPr lang="en-US" sz="2000" dirty="0" smtClean="0">
                <a:solidFill>
                  <a:srgbClr val="002060"/>
                </a:solidFill>
                <a:latin typeface="Times New Roman" panose="02020603050405020304" charset="0"/>
                <a:cs typeface="Times New Roman" panose="02020603050405020304" charset="0"/>
              </a:rPr>
              <a:t> A </a:t>
            </a:r>
            <a:r>
              <a:rPr lang="en-US" sz="2000" dirty="0" err="1" smtClean="0">
                <a:solidFill>
                  <a:srgbClr val="002060"/>
                </a:solidFill>
                <a:latin typeface="Times New Roman" panose="02020603050405020304" charset="0"/>
                <a:cs typeface="Times New Roman" panose="02020603050405020304" charset="0"/>
              </a:rPr>
              <a:t>K|Mithun</a:t>
            </a:r>
            <a:r>
              <a:rPr lang="en-US" sz="2000" dirty="0" smtClean="0">
                <a:solidFill>
                  <a:srgbClr val="002060"/>
                </a:solidFill>
                <a:latin typeface="Times New Roman" panose="02020603050405020304" charset="0"/>
                <a:cs typeface="Times New Roman" panose="02020603050405020304" charset="0"/>
              </a:rPr>
              <a:t> V Y</a:t>
            </a:r>
            <a:endParaRPr lang="en-US" sz="2000" dirty="0">
              <a:solidFill>
                <a:srgbClr val="002060"/>
              </a:solidFill>
              <a:latin typeface="Times New Roman" panose="02020603050405020304" charset="0"/>
              <a:cs typeface="Times New Roman" panose="02020603050405020304" charset="0"/>
            </a:endParaRPr>
          </a:p>
          <a:p>
            <a:pPr algn="ctr">
              <a:buClr>
                <a:srgbClr val="0000FF"/>
              </a:buClr>
              <a:buSzPts val="4400"/>
            </a:pPr>
            <a:r>
              <a:rPr lang="en-US" sz="2000" dirty="0" smtClean="0">
                <a:solidFill>
                  <a:srgbClr val="002060"/>
                </a:solidFill>
                <a:latin typeface="Times New Roman" panose="02020603050405020304" charset="0"/>
                <a:cs typeface="Times New Roman" panose="02020603050405020304" charset="0"/>
              </a:rPr>
              <a:t>RVCE25BAS051|RVCE25BAS058|RVCE25BAS046|RVCE25BAS038 Mentor </a:t>
            </a:r>
            <a:r>
              <a:rPr lang="en-US" sz="2000" dirty="0" smtClean="0">
                <a:solidFill>
                  <a:srgbClr val="002060"/>
                </a:solidFill>
                <a:latin typeface="Times New Roman" panose="02020603050405020304" charset="0"/>
                <a:cs typeface="Times New Roman" panose="02020603050405020304" charset="0"/>
              </a:rPr>
              <a:t>Name 1  Mentor Name 2</a:t>
            </a:r>
            <a:endParaRPr sz="2000" dirty="0">
              <a:solidFill>
                <a:srgbClr val="975329"/>
              </a:solidFill>
            </a:endParaRPr>
          </a:p>
        </p:txBody>
      </p:sp>
      <p:sp>
        <p:nvSpPr>
          <p:cNvPr id="94" name="Google Shape;94;p1"/>
          <p:cNvSpPr/>
          <p:nvPr/>
        </p:nvSpPr>
        <p:spPr>
          <a:xfrm>
            <a:off x="7846751" y="14774675"/>
            <a:ext cx="7049317" cy="1084510"/>
          </a:xfrm>
          <a:prstGeom prst="rect">
            <a:avLst/>
          </a:prstGeom>
          <a:noFill/>
          <a:ln>
            <a:noFill/>
          </a:ln>
        </p:spPr>
        <p:txBody>
          <a:bodyPr spcFirstLastPara="1" wrap="square" lIns="38271" tIns="19130" rIns="38271" bIns="19130" anchor="t" anchorCtr="0">
            <a:noAutofit/>
          </a:bodyPr>
          <a:lstStyle/>
          <a:p>
            <a:pPr marL="143538" indent="-74427">
              <a:lnSpc>
                <a:spcPct val="110000"/>
              </a:lnSpc>
              <a:buClr>
                <a:schemeClr val="dk1"/>
              </a:buClr>
              <a:buSzPts val="2600"/>
            </a:pPr>
            <a:endParaRPr sz="1088">
              <a:solidFill>
                <a:srgbClr val="003300"/>
              </a:solidFill>
              <a:latin typeface="Georgia" panose="02040502050405020303"/>
              <a:ea typeface="Georgia" panose="02040502050405020303"/>
              <a:cs typeface="Georgia" panose="02040502050405020303"/>
              <a:sym typeface="Georgia" panose="02040502050405020303"/>
            </a:endParaRPr>
          </a:p>
        </p:txBody>
      </p:sp>
      <p:sp>
        <p:nvSpPr>
          <p:cNvPr id="96" name="Google Shape;96;p1"/>
          <p:cNvSpPr/>
          <p:nvPr/>
        </p:nvSpPr>
        <p:spPr>
          <a:xfrm>
            <a:off x="-350871" y="2851916"/>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97" name="Google Shape;97;p1"/>
          <p:cNvSpPr/>
          <p:nvPr/>
        </p:nvSpPr>
        <p:spPr>
          <a:xfrm>
            <a:off x="350871" y="11322617"/>
            <a:ext cx="77085" cy="154499"/>
          </a:xfrm>
          <a:prstGeom prst="rect">
            <a:avLst/>
          </a:prstGeom>
          <a:noFill/>
          <a:ln>
            <a:noFill/>
          </a:ln>
        </p:spPr>
        <p:txBody>
          <a:bodyPr spcFirstLastPara="1" wrap="square" lIns="38271" tIns="19130" rIns="38271" bIns="19130" anchor="ctr" anchorCtr="0">
            <a:spAutoFit/>
          </a:bodyPr>
          <a:lstStyle/>
          <a:p>
            <a:pPr>
              <a:buClr>
                <a:schemeClr val="dk1"/>
              </a:buClr>
              <a:buSzPts val="1800"/>
            </a:pPr>
            <a:endParaRPr sz="753">
              <a:solidFill>
                <a:schemeClr val="dk1"/>
              </a:solidFill>
            </a:endParaRPr>
          </a:p>
        </p:txBody>
      </p:sp>
      <p:sp>
        <p:nvSpPr>
          <p:cNvPr id="101" name="Google Shape;101;p1"/>
          <p:cNvSpPr/>
          <p:nvPr/>
        </p:nvSpPr>
        <p:spPr>
          <a:xfrm>
            <a:off x="0" y="2851916"/>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02" name="Google Shape;102;p1"/>
          <p:cNvSpPr/>
          <p:nvPr/>
        </p:nvSpPr>
        <p:spPr>
          <a:xfrm>
            <a:off x="0" y="10361751"/>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03" name="Google Shape;103;p1"/>
          <p:cNvSpPr/>
          <p:nvPr/>
        </p:nvSpPr>
        <p:spPr>
          <a:xfrm>
            <a:off x="0" y="10309918"/>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04" name="Google Shape;104;p1"/>
          <p:cNvSpPr/>
          <p:nvPr/>
        </p:nvSpPr>
        <p:spPr>
          <a:xfrm>
            <a:off x="0" y="10309918"/>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05" name="Google Shape;105;p1"/>
          <p:cNvSpPr txBox="1"/>
          <p:nvPr/>
        </p:nvSpPr>
        <p:spPr>
          <a:xfrm>
            <a:off x="7846751" y="16146261"/>
            <a:ext cx="5837217" cy="154499"/>
          </a:xfrm>
          <a:prstGeom prst="rect">
            <a:avLst/>
          </a:prstGeom>
          <a:noFill/>
          <a:ln>
            <a:noFill/>
          </a:ln>
        </p:spPr>
        <p:txBody>
          <a:bodyPr spcFirstLastPara="1" wrap="square" lIns="38271" tIns="19130" rIns="38271" bIns="19130" anchor="t" anchorCtr="0">
            <a:spAutoFit/>
          </a:bodyPr>
          <a:lstStyle/>
          <a:p>
            <a:pPr>
              <a:buClr>
                <a:schemeClr val="dk1"/>
              </a:buClr>
              <a:buSzPts val="1800"/>
            </a:pPr>
            <a:endParaRPr sz="753">
              <a:solidFill>
                <a:schemeClr val="accent2"/>
              </a:solidFill>
              <a:latin typeface="Georgia" panose="02040502050405020303"/>
              <a:ea typeface="Georgia" panose="02040502050405020303"/>
              <a:cs typeface="Georgia" panose="02040502050405020303"/>
              <a:sym typeface="Georgia" panose="02040502050405020303"/>
            </a:endParaRPr>
          </a:p>
        </p:txBody>
      </p:sp>
      <p:sp>
        <p:nvSpPr>
          <p:cNvPr id="106" name="Google Shape;106;p1"/>
          <p:cNvSpPr txBox="1"/>
          <p:nvPr/>
        </p:nvSpPr>
        <p:spPr>
          <a:xfrm>
            <a:off x="4210452" y="16241953"/>
            <a:ext cx="988818" cy="206052"/>
          </a:xfrm>
          <a:prstGeom prst="rect">
            <a:avLst/>
          </a:prstGeom>
          <a:noFill/>
          <a:ln>
            <a:noFill/>
          </a:ln>
        </p:spPr>
        <p:txBody>
          <a:bodyPr spcFirstLastPara="1" wrap="square" lIns="38271" tIns="19130" rIns="38271" bIns="19130" anchor="t" anchorCtr="0">
            <a:spAutoFit/>
          </a:bodyPr>
          <a:lstStyle/>
          <a:p>
            <a:pPr>
              <a:buClr>
                <a:schemeClr val="dk1"/>
              </a:buClr>
              <a:buSzPts val="2600"/>
            </a:pPr>
            <a:endParaRPr sz="1088">
              <a:solidFill>
                <a:schemeClr val="lt2"/>
              </a:solidFill>
              <a:latin typeface="Georgia" panose="02040502050405020303"/>
              <a:ea typeface="Georgia" panose="02040502050405020303"/>
              <a:cs typeface="Georgia" panose="02040502050405020303"/>
              <a:sym typeface="Georgia" panose="02040502050405020303"/>
            </a:endParaRPr>
          </a:p>
        </p:txBody>
      </p:sp>
      <p:sp>
        <p:nvSpPr>
          <p:cNvPr id="107" name="Google Shape;107;p1"/>
          <p:cNvSpPr/>
          <p:nvPr/>
        </p:nvSpPr>
        <p:spPr>
          <a:xfrm>
            <a:off x="0" y="10361751"/>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08" name="Google Shape;108;p1"/>
          <p:cNvSpPr/>
          <p:nvPr/>
        </p:nvSpPr>
        <p:spPr>
          <a:xfrm>
            <a:off x="0" y="10361751"/>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09" name="Google Shape;109;p1"/>
          <p:cNvSpPr txBox="1"/>
          <p:nvPr/>
        </p:nvSpPr>
        <p:spPr>
          <a:xfrm>
            <a:off x="9345927" y="6340480"/>
            <a:ext cx="988818" cy="206052"/>
          </a:xfrm>
          <a:prstGeom prst="rect">
            <a:avLst/>
          </a:prstGeom>
          <a:noFill/>
          <a:ln>
            <a:noFill/>
          </a:ln>
        </p:spPr>
        <p:txBody>
          <a:bodyPr spcFirstLastPara="1" wrap="square" lIns="38271" tIns="19130" rIns="38271" bIns="19130" anchor="t" anchorCtr="0">
            <a:spAutoFit/>
          </a:bodyPr>
          <a:lstStyle/>
          <a:p>
            <a:pPr>
              <a:buClr>
                <a:schemeClr val="dk1"/>
              </a:buClr>
              <a:buSzPts val="2600"/>
            </a:pPr>
            <a:endParaRPr sz="1088">
              <a:solidFill>
                <a:schemeClr val="lt2"/>
              </a:solidFill>
              <a:latin typeface="Georgia" panose="02040502050405020303"/>
              <a:ea typeface="Georgia" panose="02040502050405020303"/>
              <a:cs typeface="Georgia" panose="02040502050405020303"/>
              <a:sym typeface="Georgia" panose="02040502050405020303"/>
            </a:endParaRPr>
          </a:p>
        </p:txBody>
      </p:sp>
      <p:sp>
        <p:nvSpPr>
          <p:cNvPr id="110" name="Google Shape;110;p1"/>
          <p:cNvSpPr txBox="1"/>
          <p:nvPr/>
        </p:nvSpPr>
        <p:spPr>
          <a:xfrm>
            <a:off x="12057203" y="6353771"/>
            <a:ext cx="988818" cy="206052"/>
          </a:xfrm>
          <a:prstGeom prst="rect">
            <a:avLst/>
          </a:prstGeom>
          <a:noFill/>
          <a:ln>
            <a:noFill/>
          </a:ln>
        </p:spPr>
        <p:txBody>
          <a:bodyPr spcFirstLastPara="1" wrap="square" lIns="38271" tIns="19130" rIns="38271" bIns="19130" anchor="t" anchorCtr="0">
            <a:spAutoFit/>
          </a:bodyPr>
          <a:lstStyle/>
          <a:p>
            <a:pPr>
              <a:buClr>
                <a:schemeClr val="dk1"/>
              </a:buClr>
              <a:buSzPts val="2600"/>
            </a:pPr>
            <a:endParaRPr sz="1088">
              <a:solidFill>
                <a:schemeClr val="lt2"/>
              </a:solidFill>
              <a:latin typeface="Georgia" panose="02040502050405020303"/>
              <a:ea typeface="Georgia" panose="02040502050405020303"/>
              <a:cs typeface="Georgia" panose="02040502050405020303"/>
              <a:sym typeface="Georgia" panose="02040502050405020303"/>
            </a:endParaRPr>
          </a:p>
        </p:txBody>
      </p:sp>
      <p:sp>
        <p:nvSpPr>
          <p:cNvPr id="111" name="Google Shape;111;p1"/>
          <p:cNvSpPr/>
          <p:nvPr/>
        </p:nvSpPr>
        <p:spPr>
          <a:xfrm>
            <a:off x="0" y="2851916"/>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13" name="Google Shape;113;p1"/>
          <p:cNvSpPr/>
          <p:nvPr/>
        </p:nvSpPr>
        <p:spPr>
          <a:xfrm>
            <a:off x="0" y="2947608"/>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14" name="Google Shape;114;p1"/>
          <p:cNvSpPr/>
          <p:nvPr/>
        </p:nvSpPr>
        <p:spPr>
          <a:xfrm>
            <a:off x="0" y="4231476"/>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sp>
        <p:nvSpPr>
          <p:cNvPr id="115" name="Google Shape;115;p1"/>
          <p:cNvSpPr/>
          <p:nvPr/>
        </p:nvSpPr>
        <p:spPr>
          <a:xfrm>
            <a:off x="191385" y="3828772"/>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dirty="0">
              <a:solidFill>
                <a:schemeClr val="dk1"/>
              </a:solidFill>
            </a:endParaRPr>
          </a:p>
        </p:txBody>
      </p:sp>
      <p:sp>
        <p:nvSpPr>
          <p:cNvPr id="116" name="Google Shape;116;p1"/>
          <p:cNvSpPr/>
          <p:nvPr/>
        </p:nvSpPr>
        <p:spPr>
          <a:xfrm>
            <a:off x="191385" y="4542476"/>
            <a:ext cx="15119350" cy="560443"/>
          </a:xfrm>
          <a:prstGeom prst="rect">
            <a:avLst/>
          </a:prstGeom>
          <a:noFill/>
          <a:ln>
            <a:noFill/>
          </a:ln>
        </p:spPr>
        <p:txBody>
          <a:bodyPr spcFirstLastPara="1" wrap="square" lIns="38271" tIns="19130" rIns="38271" bIns="19130" anchor="ctr" anchorCtr="0">
            <a:spAutoFit/>
          </a:bodyPr>
          <a:lstStyle/>
          <a:p>
            <a:pPr>
              <a:buClr>
                <a:schemeClr val="dk1"/>
              </a:buClr>
              <a:buSzPts val="8100"/>
            </a:pPr>
            <a:endParaRPr sz="3391">
              <a:solidFill>
                <a:schemeClr val="dk1"/>
              </a:solidFill>
            </a:endParaRPr>
          </a:p>
        </p:txBody>
      </p:sp>
      <p:grpSp>
        <p:nvGrpSpPr>
          <p:cNvPr id="127" name="Google Shape;127;p1"/>
          <p:cNvGrpSpPr/>
          <p:nvPr/>
        </p:nvGrpSpPr>
        <p:grpSpPr>
          <a:xfrm>
            <a:off x="142752" y="1968997"/>
            <a:ext cx="7519803" cy="18935479"/>
            <a:chOff x="26374694" y="8524168"/>
            <a:chExt cx="17964396" cy="28277704"/>
          </a:xfrm>
        </p:grpSpPr>
        <p:sp>
          <p:nvSpPr>
            <p:cNvPr id="131" name="Google Shape;131;p1"/>
            <p:cNvSpPr/>
            <p:nvPr/>
          </p:nvSpPr>
          <p:spPr>
            <a:xfrm>
              <a:off x="26374694" y="8524168"/>
              <a:ext cx="17964396" cy="28277704"/>
            </a:xfrm>
            <a:prstGeom prst="roundRect">
              <a:avLst>
                <a:gd name="adj" fmla="val 2556"/>
              </a:avLst>
            </a:prstGeom>
            <a:ln>
              <a:headEnd type="none" w="sm" len="sm"/>
              <a:tailEnd type="none" w="sm" len="sm"/>
            </a:ln>
          </p:spPr>
          <p:style>
            <a:lnRef idx="2">
              <a:schemeClr val="accent3"/>
            </a:lnRef>
            <a:fillRef idx="1">
              <a:schemeClr val="lt1"/>
            </a:fillRef>
            <a:effectRef idx="0">
              <a:schemeClr val="accent3"/>
            </a:effectRef>
            <a:fontRef idx="minor">
              <a:schemeClr val="dk1"/>
            </a:fontRef>
          </p:style>
          <p:txBody>
            <a:bodyPr spcFirstLastPara="1" wrap="square" lIns="38271" tIns="19130" rIns="38271" bIns="19130" anchor="ctr" anchorCtr="0">
              <a:noAutofit/>
            </a:bodyPr>
            <a:lstStyle/>
            <a:p>
              <a:pPr>
                <a:buClr>
                  <a:schemeClr val="dk1"/>
                </a:buClr>
                <a:buSzPts val="3600"/>
              </a:pPr>
              <a:endParaRPr lang="en-IN" sz="1507">
                <a:latin typeface="Arial" panose="020B0604020202020204"/>
                <a:ea typeface="Arial" panose="020B0604020202020204"/>
                <a:cs typeface="Arial" panose="020B0604020202020204"/>
              </a:endParaRPr>
            </a:p>
            <a:p>
              <a:pPr>
                <a:buClr>
                  <a:schemeClr val="dk1"/>
                </a:buClr>
                <a:buSzPts val="3600"/>
              </a:pPr>
              <a:r>
                <a:rPr lang="en-IN" sz="1507">
                  <a:latin typeface="Arial" panose="020B0604020202020204"/>
                  <a:ea typeface="Arial" panose="020B0604020202020204"/>
                  <a:cs typeface="Arial" panose="020B0604020202020204"/>
                </a:rPr>
                <a:t>              </a:t>
              </a:r>
              <a:endParaRPr sz="1507">
                <a:latin typeface="Arial" panose="020B0604020202020204"/>
                <a:ea typeface="Arial" panose="020B0604020202020204"/>
                <a:cs typeface="Arial" panose="020B0604020202020204"/>
              </a:endParaRPr>
            </a:p>
          </p:txBody>
        </p:sp>
        <p:sp>
          <p:nvSpPr>
            <p:cNvPr id="150" name="Google Shape;150;p1"/>
            <p:cNvSpPr txBox="1"/>
            <p:nvPr/>
          </p:nvSpPr>
          <p:spPr>
            <a:xfrm>
              <a:off x="26650065" y="8801932"/>
              <a:ext cx="17344338" cy="473653"/>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IN"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Introduction</a:t>
              </a:r>
              <a:endParaRPr sz="1842" b="1" dirty="0">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grpSp>
      <p:sp>
        <p:nvSpPr>
          <p:cNvPr id="161" name="Google Shape;161;p1"/>
          <p:cNvSpPr txBox="1"/>
          <p:nvPr/>
        </p:nvSpPr>
        <p:spPr>
          <a:xfrm>
            <a:off x="424665" y="16214823"/>
            <a:ext cx="6830161" cy="270557"/>
          </a:xfrm>
          <a:prstGeom prst="rect">
            <a:avLst/>
          </a:prstGeom>
          <a:noFill/>
          <a:ln>
            <a:noFill/>
          </a:ln>
        </p:spPr>
        <p:txBody>
          <a:bodyPr spcFirstLastPara="1" wrap="square" lIns="38271" tIns="19130" rIns="38271" bIns="19130" anchor="t" anchorCtr="0">
            <a:spAutoFit/>
          </a:bodyPr>
          <a:lstStyle/>
          <a:p>
            <a:pPr marL="239230" indent="-143538">
              <a:buClr>
                <a:schemeClr val="dk1"/>
              </a:buClr>
              <a:buSzPts val="3600"/>
            </a:pPr>
            <a:endParaRPr sz="1507">
              <a:solidFill>
                <a:schemeClr val="dk1"/>
              </a:solidFill>
            </a:endParaRPr>
          </a:p>
        </p:txBody>
      </p:sp>
      <p:sp>
        <p:nvSpPr>
          <p:cNvPr id="171" name="Google Shape;171;p1"/>
          <p:cNvSpPr txBox="1"/>
          <p:nvPr/>
        </p:nvSpPr>
        <p:spPr>
          <a:xfrm>
            <a:off x="218306" y="16347918"/>
            <a:ext cx="7397264" cy="322109"/>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IN"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Empirical, Calculations, Tools &amp; Techniques</a:t>
            </a:r>
            <a:endParaRPr sz="1842" b="1" dirty="0">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
        <p:nvSpPr>
          <p:cNvPr id="172" name="Google Shape;172;p1"/>
          <p:cNvSpPr txBox="1"/>
          <p:nvPr/>
        </p:nvSpPr>
        <p:spPr>
          <a:xfrm>
            <a:off x="7801192" y="2145342"/>
            <a:ext cx="7097496" cy="322109"/>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IN"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Results &amp; Discussions</a:t>
            </a:r>
            <a:endParaRPr sz="1842" b="1" dirty="0">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
        <p:nvSpPr>
          <p:cNvPr id="173" name="Google Shape;173;p1"/>
          <p:cNvSpPr txBox="1"/>
          <p:nvPr/>
        </p:nvSpPr>
        <p:spPr>
          <a:xfrm>
            <a:off x="7783025" y="9418154"/>
            <a:ext cx="7097496" cy="322109"/>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US"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Testing/Validation &amp; Feedback</a:t>
            </a:r>
          </a:p>
        </p:txBody>
      </p:sp>
      <p:sp>
        <p:nvSpPr>
          <p:cNvPr id="174" name="Google Shape;174;p1"/>
          <p:cNvSpPr txBox="1"/>
          <p:nvPr/>
        </p:nvSpPr>
        <p:spPr>
          <a:xfrm>
            <a:off x="7838482" y="16587836"/>
            <a:ext cx="7097496" cy="346410"/>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r>
              <a:rPr lang="en-IN" sz="2000" b="1" i="0" dirty="0">
                <a:effectLst/>
                <a:latin typeface="Comic Sans MS" panose="030F0702030302020204" pitchFamily="66" charset="0"/>
              </a:rPr>
              <a:t>References</a:t>
            </a:r>
          </a:p>
        </p:txBody>
      </p:sp>
      <p:sp>
        <p:nvSpPr>
          <p:cNvPr id="179" name="Google Shape;179;p1"/>
          <p:cNvSpPr txBox="1"/>
          <p:nvPr/>
        </p:nvSpPr>
        <p:spPr>
          <a:xfrm>
            <a:off x="12921869" y="111045"/>
            <a:ext cx="2207895" cy="263003"/>
          </a:xfrm>
          <a:prstGeom prst="rect">
            <a:avLst/>
          </a:prstGeom>
          <a:noFill/>
          <a:ln>
            <a:noFill/>
          </a:ln>
        </p:spPr>
        <p:txBody>
          <a:bodyPr spcFirstLastPara="1" wrap="square" lIns="0" tIns="5316" rIns="0" bIns="0" anchor="t" anchorCtr="0">
            <a:spAutoFit/>
          </a:bodyPr>
          <a:lstStyle/>
          <a:p>
            <a:pPr marL="5316"/>
            <a:r>
              <a:rPr lang="en-IN" sz="1674" i="1" dirty="0">
                <a:solidFill>
                  <a:srgbClr val="422C75"/>
                </a:solidFill>
                <a:latin typeface="Playfair Display"/>
                <a:ea typeface="Playfair Display"/>
                <a:cs typeface="Playfair Display"/>
                <a:sym typeface="Playfair Display"/>
              </a:rPr>
              <a:t>Go, change the world</a:t>
            </a:r>
            <a:endParaRPr sz="1674" dirty="0">
              <a:solidFill>
                <a:schemeClr val="dk1"/>
              </a:solidFill>
              <a:latin typeface="Playfair Display"/>
              <a:ea typeface="Playfair Display"/>
              <a:cs typeface="Playfair Display"/>
              <a:sym typeface="Playfair Display"/>
            </a:endParaRPr>
          </a:p>
        </p:txBody>
      </p:sp>
      <p:sp>
        <p:nvSpPr>
          <p:cNvPr id="2" name="Google Shape;150;p1">
            <a:extLst>
              <a:ext uri="{FF2B5EF4-FFF2-40B4-BE49-F238E27FC236}">
                <a16:creationId xmlns="" xmlns:a16="http://schemas.microsoft.com/office/drawing/2014/main" id="{96549883-8540-6668-D479-B7068ACA60DE}"/>
              </a:ext>
            </a:extLst>
          </p:cNvPr>
          <p:cNvSpPr txBox="1"/>
          <p:nvPr/>
        </p:nvSpPr>
        <p:spPr>
          <a:xfrm>
            <a:off x="91439" y="6726829"/>
            <a:ext cx="7260250" cy="322109"/>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IN"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Methodology</a:t>
            </a:r>
            <a:endParaRPr sz="1842" b="1" dirty="0">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sp>
        <p:nvSpPr>
          <p:cNvPr id="4" name="Google Shape;150;p1">
            <a:extLst>
              <a:ext uri="{FF2B5EF4-FFF2-40B4-BE49-F238E27FC236}">
                <a16:creationId xmlns="" xmlns:a16="http://schemas.microsoft.com/office/drawing/2014/main" id="{6F6964B9-9CEB-4BB5-CA66-443F445C218E}"/>
              </a:ext>
            </a:extLst>
          </p:cNvPr>
          <p:cNvSpPr txBox="1"/>
          <p:nvPr/>
        </p:nvSpPr>
        <p:spPr>
          <a:xfrm>
            <a:off x="218306" y="4381421"/>
            <a:ext cx="7285572" cy="322109"/>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IN"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Objectives</a:t>
            </a:r>
            <a:endParaRPr sz="1842" b="1" dirty="0">
              <a:solidFill>
                <a:srgbClr val="002060"/>
              </a:solidFill>
              <a:latin typeface="Comic Sans MS" panose="030F0702030302020204"/>
              <a:ea typeface="Comic Sans MS" panose="030F0702030302020204"/>
              <a:cs typeface="Comic Sans MS" panose="030F0702030302020204"/>
              <a:sym typeface="Comic Sans MS" panose="030F0702030302020204"/>
            </a:endParaRPr>
          </a:p>
        </p:txBody>
      </p:sp>
      <p:pic>
        <p:nvPicPr>
          <p:cNvPr id="11" name="Picture 2" descr="May be an image of text that says &quot;R RASHTREEYA R SIKSHANA SAMITHI SAMAITHI V TRUST INSTITUTIONS&quot;">
            <a:extLst>
              <a:ext uri="{FF2B5EF4-FFF2-40B4-BE49-F238E27FC236}">
                <a16:creationId xmlns="" xmlns:a16="http://schemas.microsoft.com/office/drawing/2014/main" id="{7C2EFEC0-42F0-B598-C59C-701CF1C97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92" y="111045"/>
            <a:ext cx="1655508" cy="1655508"/>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92;p1">
            <a:extLst>
              <a:ext uri="{FF2B5EF4-FFF2-40B4-BE49-F238E27FC236}">
                <a16:creationId xmlns="" xmlns:a16="http://schemas.microsoft.com/office/drawing/2014/main" id="{C3C138E0-EC15-F332-8FAA-6F2D3C197756}"/>
              </a:ext>
            </a:extLst>
          </p:cNvPr>
          <p:cNvSpPr txBox="1"/>
          <p:nvPr/>
        </p:nvSpPr>
        <p:spPr>
          <a:xfrm>
            <a:off x="11823514" y="787097"/>
            <a:ext cx="3381248" cy="777297"/>
          </a:xfrm>
          <a:prstGeom prst="rect">
            <a:avLst/>
          </a:prstGeom>
          <a:noFill/>
          <a:ln>
            <a:noFill/>
          </a:ln>
        </p:spPr>
        <p:txBody>
          <a:bodyPr spcFirstLastPara="1" wrap="square" lIns="38271" tIns="19130" rIns="38271" bIns="19130" anchor="t" anchorCtr="0">
            <a:spAutoFit/>
          </a:bodyPr>
          <a:lstStyle/>
          <a:p>
            <a:pPr>
              <a:buClr>
                <a:srgbClr val="990000"/>
              </a:buClr>
              <a:buSzPts val="6000"/>
            </a:pPr>
            <a:r>
              <a:rPr lang="en-IN" sz="2400" b="1" dirty="0" err="1" smtClean="0">
                <a:solidFill>
                  <a:schemeClr val="accent2">
                    <a:lumMod val="50000"/>
                  </a:schemeClr>
                </a:solidFill>
                <a:latin typeface="Trebuchet MS" panose="020B0603020202020204"/>
                <a:ea typeface="Tahoma" panose="020B0604030504040204"/>
                <a:cs typeface="Tahoma" panose="020B0604030504040204"/>
                <a:sym typeface="Trebuchet MS" panose="020B0603020202020204"/>
              </a:rPr>
              <a:t>Branch:Aerospace</a:t>
            </a:r>
            <a:endParaRPr lang="en-IN" sz="2400" b="1" dirty="0" smtClean="0">
              <a:solidFill>
                <a:schemeClr val="accent2">
                  <a:lumMod val="50000"/>
                </a:schemeClr>
              </a:solidFill>
              <a:latin typeface="Trebuchet MS" panose="020B0603020202020204"/>
              <a:ea typeface="Tahoma" panose="020B0604030504040204"/>
              <a:cs typeface="Tahoma" panose="020B0604030504040204"/>
              <a:sym typeface="Trebuchet MS" panose="020B0603020202020204"/>
            </a:endParaRPr>
          </a:p>
          <a:p>
            <a:pPr>
              <a:buClr>
                <a:srgbClr val="990000"/>
              </a:buClr>
              <a:buSzPts val="6000"/>
            </a:pPr>
            <a:r>
              <a:rPr lang="en-US" sz="2400" b="1" dirty="0" smtClean="0">
                <a:solidFill>
                  <a:schemeClr val="accent2">
                    <a:lumMod val="50000"/>
                  </a:schemeClr>
                </a:solidFill>
                <a:latin typeface="Trebuchet MS" panose="020B0603020202020204"/>
                <a:ea typeface="Tahoma" panose="020B0604030504040204"/>
                <a:cs typeface="Tahoma" panose="020B0604030504040204"/>
                <a:sym typeface="Trebuchet MS" panose="020B0603020202020204"/>
              </a:rPr>
              <a:t>Section:</a:t>
            </a:r>
          </a:p>
        </p:txBody>
      </p:sp>
      <p:sp>
        <p:nvSpPr>
          <p:cNvPr id="13" name="Google Shape;173;p1">
            <a:extLst>
              <a:ext uri="{FF2B5EF4-FFF2-40B4-BE49-F238E27FC236}">
                <a16:creationId xmlns="" xmlns:a16="http://schemas.microsoft.com/office/drawing/2014/main" id="{4D62BE2B-B35B-D625-2122-05FD6EFD4E3C}"/>
              </a:ext>
            </a:extLst>
          </p:cNvPr>
          <p:cNvSpPr txBox="1"/>
          <p:nvPr/>
        </p:nvSpPr>
        <p:spPr>
          <a:xfrm>
            <a:off x="7830348" y="13036948"/>
            <a:ext cx="7097496" cy="322109"/>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buClr>
                <a:srgbClr val="002060"/>
              </a:buClr>
              <a:buSzPts val="4400"/>
            </a:pPr>
            <a:r>
              <a:rPr lang="en-US" sz="1842" b="1" dirty="0">
                <a:solidFill>
                  <a:srgbClr val="002060"/>
                </a:solidFill>
                <a:latin typeface="Comic Sans MS" panose="030F0702030302020204"/>
                <a:ea typeface="Comic Sans MS" panose="030F0702030302020204"/>
                <a:cs typeface="Comic Sans MS" panose="030F0702030302020204"/>
                <a:sym typeface="Comic Sans MS" panose="030F0702030302020204"/>
              </a:rPr>
              <a:t>Measurable Outcomes </a:t>
            </a:r>
          </a:p>
        </p:txBody>
      </p:sp>
      <p:sp>
        <p:nvSpPr>
          <p:cNvPr id="9" name="Google Shape;174;p1">
            <a:extLst>
              <a:ext uri="{FF2B5EF4-FFF2-40B4-BE49-F238E27FC236}">
                <a16:creationId xmlns="" xmlns:a16="http://schemas.microsoft.com/office/drawing/2014/main" id="{2F547D69-D0D0-C594-CD7F-F9B90CF1C02A}"/>
              </a:ext>
            </a:extLst>
          </p:cNvPr>
          <p:cNvSpPr txBox="1"/>
          <p:nvPr/>
        </p:nvSpPr>
        <p:spPr>
          <a:xfrm>
            <a:off x="7838482" y="18796166"/>
            <a:ext cx="7097496" cy="346410"/>
          </a:xfrm>
          <a:prstGeom prst="rect">
            <a:avLst/>
          </a:prstGeom>
          <a:solidFill>
            <a:srgbClr val="FFC000"/>
          </a:solidFill>
          <a:ln w="9525" cap="flat" cmpd="sng">
            <a:solidFill>
              <a:schemeClr val="dk1"/>
            </a:solidFill>
            <a:prstDash val="solid"/>
            <a:miter lim="800000"/>
            <a:headEnd type="none" w="sm" len="sm"/>
            <a:tailEnd type="none" w="sm" len="sm"/>
          </a:ln>
        </p:spPr>
        <p:txBody>
          <a:bodyPr spcFirstLastPara="1" wrap="square" lIns="38271" tIns="19130" rIns="38271" bIns="19130" anchor="t" anchorCtr="0">
            <a:spAutoFit/>
          </a:bodyPr>
          <a:lstStyle/>
          <a:p>
            <a:pPr algn="ctr"/>
            <a:r>
              <a:rPr lang="en-US" sz="2000" b="1" i="0" dirty="0">
                <a:effectLst/>
                <a:latin typeface="Comic Sans MS" panose="030F0702030302020204" pitchFamily="66" charset="0"/>
              </a:rPr>
              <a:t>QR codes</a:t>
            </a:r>
            <a:endParaRPr lang="en-IN" sz="2000" b="1" i="0" dirty="0">
              <a:effectLst/>
              <a:latin typeface="Comic Sans MS" panose="030F0702030302020204" pitchFamily="66" charset="0"/>
            </a:endParaRPr>
          </a:p>
        </p:txBody>
      </p:sp>
      <p:sp>
        <p:nvSpPr>
          <p:cNvPr id="17" name="Rectangle 16">
            <a:extLst>
              <a:ext uri="{FF2B5EF4-FFF2-40B4-BE49-F238E27FC236}">
                <a16:creationId xmlns="" xmlns:a16="http://schemas.microsoft.com/office/drawing/2014/main" id="{EAFC50E8-8933-7EDC-6D62-AFECAE0E132F}"/>
              </a:ext>
            </a:extLst>
          </p:cNvPr>
          <p:cNvSpPr/>
          <p:nvPr/>
        </p:nvSpPr>
        <p:spPr>
          <a:xfrm>
            <a:off x="8251683" y="19156309"/>
            <a:ext cx="1800000" cy="180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QR Code of Demonstration of the prototype /design simulation </a:t>
            </a:r>
            <a:endParaRPr lang="en-IN" b="1" dirty="0">
              <a:solidFill>
                <a:schemeClr val="tx1"/>
              </a:solidFill>
            </a:endParaRPr>
          </a:p>
        </p:txBody>
      </p:sp>
      <p:sp>
        <p:nvSpPr>
          <p:cNvPr id="10" name="Google Shape;92;p1">
            <a:extLst>
              <a:ext uri="{FF2B5EF4-FFF2-40B4-BE49-F238E27FC236}">
                <a16:creationId xmlns="" xmlns:a16="http://schemas.microsoft.com/office/drawing/2014/main" id="{CB4C0572-8042-90BA-3039-FC667E1352E3}"/>
              </a:ext>
            </a:extLst>
          </p:cNvPr>
          <p:cNvSpPr txBox="1"/>
          <p:nvPr/>
        </p:nvSpPr>
        <p:spPr>
          <a:xfrm>
            <a:off x="5037187" y="771391"/>
            <a:ext cx="4629003" cy="449002"/>
          </a:xfrm>
          <a:prstGeom prst="rect">
            <a:avLst/>
          </a:prstGeom>
          <a:noFill/>
          <a:ln>
            <a:noFill/>
          </a:ln>
        </p:spPr>
        <p:txBody>
          <a:bodyPr spcFirstLastPara="1" wrap="square" lIns="38271" tIns="19130" rIns="38271" bIns="19130" anchor="t" anchorCtr="0">
            <a:spAutoFit/>
          </a:bodyPr>
          <a:lstStyle/>
          <a:p>
            <a:pPr algn="ctr">
              <a:buClr>
                <a:srgbClr val="990000"/>
              </a:buClr>
              <a:buSzPts val="6000"/>
            </a:pPr>
            <a:r>
              <a:rPr lang="en-IN" sz="1600" b="1" baseline="30000" dirty="0">
                <a:solidFill>
                  <a:schemeClr val="accent2">
                    <a:lumMod val="50000"/>
                  </a:schemeClr>
                </a:solidFill>
                <a:latin typeface="Trebuchet MS" panose="020B0603020202020204"/>
                <a:ea typeface="Tahoma" panose="020B0604030504040204"/>
                <a:cs typeface="Tahoma" panose="020B0604030504040204"/>
                <a:sym typeface="Trebuchet MS" panose="020B0603020202020204"/>
              </a:rPr>
              <a:t>V</a:t>
            </a:r>
          </a:p>
          <a:p>
            <a:pPr algn="ctr">
              <a:buClr>
                <a:srgbClr val="990000"/>
              </a:buClr>
              <a:buSzPts val="6000"/>
            </a:pPr>
            <a:r>
              <a:rPr lang="en-IN" sz="1600" b="1" dirty="0" smtClean="0">
                <a:solidFill>
                  <a:srgbClr val="002060"/>
                </a:solidFill>
                <a:latin typeface="Trebuchet MS" panose="020B0603020202020204"/>
                <a:ea typeface="Tahoma" panose="020B0604030504040204"/>
                <a:cs typeface="Tahoma" panose="020B0604030504040204"/>
                <a:sym typeface="Trebuchet MS" panose="020B0603020202020204"/>
              </a:rPr>
              <a:t>IDEA LAB SEE Project -  I SEM</a:t>
            </a:r>
            <a:endParaRPr b="1" dirty="0">
              <a:solidFill>
                <a:srgbClr val="002060"/>
              </a:solidFill>
              <a:latin typeface="Tahoma" panose="020B0604030504040204"/>
              <a:ea typeface="Tahoma" panose="020B0604030504040204"/>
              <a:cs typeface="Tahoma" panose="020B0604030504040204"/>
              <a:sym typeface="Tahoma" panose="020B0604030504040204"/>
            </a:endParaRPr>
          </a:p>
        </p:txBody>
      </p:sp>
      <p:sp>
        <p:nvSpPr>
          <p:cNvPr id="41" name="Rectangle 40">
            <a:extLst>
              <a:ext uri="{FF2B5EF4-FFF2-40B4-BE49-F238E27FC236}">
                <a16:creationId xmlns="" xmlns:a16="http://schemas.microsoft.com/office/drawing/2014/main" id="{EAFC50E8-8933-7EDC-6D62-AFECAE0E132F}"/>
              </a:ext>
            </a:extLst>
          </p:cNvPr>
          <p:cNvSpPr/>
          <p:nvPr/>
        </p:nvSpPr>
        <p:spPr>
          <a:xfrm>
            <a:off x="10228506" y="19156309"/>
            <a:ext cx="1800000" cy="180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QR Code </a:t>
            </a:r>
            <a:r>
              <a:rPr lang="en-US" b="1" dirty="0" smtClean="0">
                <a:solidFill>
                  <a:schemeClr val="tx1"/>
                </a:solidFill>
              </a:rPr>
              <a:t>of</a:t>
            </a:r>
          </a:p>
          <a:p>
            <a:pPr algn="ctr"/>
            <a:r>
              <a:rPr lang="en-US" b="1" dirty="0" smtClean="0">
                <a:solidFill>
                  <a:schemeClr val="tx1"/>
                </a:solidFill>
              </a:rPr>
              <a:t>Project  POSTER</a:t>
            </a:r>
            <a:endParaRPr lang="en-IN" b="1" dirty="0">
              <a:solidFill>
                <a:schemeClr val="tx1"/>
              </a:solidFill>
            </a:endParaRPr>
          </a:p>
        </p:txBody>
      </p:sp>
      <p:sp>
        <p:nvSpPr>
          <p:cNvPr id="42" name="Rectangle 41">
            <a:extLst>
              <a:ext uri="{FF2B5EF4-FFF2-40B4-BE49-F238E27FC236}">
                <a16:creationId xmlns="" xmlns:a16="http://schemas.microsoft.com/office/drawing/2014/main" id="{EAFC50E8-8933-7EDC-6D62-AFECAE0E132F}"/>
              </a:ext>
            </a:extLst>
          </p:cNvPr>
          <p:cNvSpPr/>
          <p:nvPr/>
        </p:nvSpPr>
        <p:spPr>
          <a:xfrm>
            <a:off x="12205329" y="19156309"/>
            <a:ext cx="1980000" cy="180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QR Code </a:t>
            </a:r>
            <a:r>
              <a:rPr lang="en-US" b="1" dirty="0" smtClean="0">
                <a:solidFill>
                  <a:schemeClr val="tx1"/>
                </a:solidFill>
              </a:rPr>
              <a:t>of</a:t>
            </a:r>
          </a:p>
          <a:p>
            <a:pPr algn="ctr"/>
            <a:r>
              <a:rPr lang="en-US" b="1" dirty="0" smtClean="0">
                <a:solidFill>
                  <a:schemeClr val="tx1"/>
                </a:solidFill>
              </a:rPr>
              <a:t>Project  REPORT</a:t>
            </a:r>
            <a:endParaRPr lang="en-IN" b="1" dirty="0">
              <a:solidFill>
                <a:schemeClr val="tx1"/>
              </a:solidFill>
            </a:endParaRPr>
          </a:p>
        </p:txBody>
      </p:sp>
      <p:sp>
        <p:nvSpPr>
          <p:cNvPr id="5" name="TextBox 4"/>
          <p:cNvSpPr txBox="1"/>
          <p:nvPr/>
        </p:nvSpPr>
        <p:spPr>
          <a:xfrm>
            <a:off x="6772275" y="20857076"/>
            <a:ext cx="1976823" cy="584775"/>
          </a:xfrm>
          <a:prstGeom prst="rect">
            <a:avLst/>
          </a:prstGeom>
          <a:noFill/>
        </p:spPr>
        <p:txBody>
          <a:bodyPr wrap="none" rtlCol="0">
            <a:spAutoFit/>
          </a:bodyPr>
          <a:lstStyle/>
          <a:p>
            <a:r>
              <a:rPr lang="en-US" sz="3200" b="1" dirty="0" smtClean="0"/>
              <a:t>2024-2025</a:t>
            </a:r>
            <a:endParaRPr lang="en-IN" sz="3200" b="1" dirty="0"/>
          </a:p>
        </p:txBody>
      </p:sp>
      <p:sp>
        <p:nvSpPr>
          <p:cNvPr id="6" name="Rectangle 5"/>
          <p:cNvSpPr/>
          <p:nvPr/>
        </p:nvSpPr>
        <p:spPr>
          <a:xfrm>
            <a:off x="287076" y="2520553"/>
            <a:ext cx="7559675" cy="2308324"/>
          </a:xfrm>
          <a:prstGeom prst="rect">
            <a:avLst/>
          </a:prstGeom>
        </p:spPr>
        <p:txBody>
          <a:bodyPr>
            <a:spAutoFit/>
          </a:bodyPr>
          <a:lstStyle/>
          <a:p>
            <a:r>
              <a:rPr lang="en-IN" dirty="0" smtClean="0">
                <a:latin typeface="Bell MT" panose="02020503060305020303" pitchFamily="18" charset="0"/>
              </a:rPr>
              <a:t>Disasters such as fire accidents, toxic gas leakage, flooding, and unexpected structural vibrations continue to pose major risks in both domestic and industrial environments. These hazards often occur without warning and can escalate rapidly, causing significant damage to property and endangering human </a:t>
            </a:r>
            <a:r>
              <a:rPr lang="en-IN" dirty="0" err="1" smtClean="0">
                <a:latin typeface="Bell MT" panose="02020503060305020303" pitchFamily="18" charset="0"/>
              </a:rPr>
              <a:t>life.So</a:t>
            </a:r>
            <a:r>
              <a:rPr lang="en-IN" dirty="0" smtClean="0">
                <a:latin typeface="Bell MT" panose="02020503060305020303" pitchFamily="18" charset="0"/>
              </a:rPr>
              <a:t> </a:t>
            </a:r>
            <a:r>
              <a:rPr lang="en-US" dirty="0" smtClean="0">
                <a:latin typeface="Bell MT" panose="02020503060305020303" pitchFamily="18" charset="0"/>
              </a:rPr>
              <a:t>the system incorporates dedicated sensors for each hazard and provides instant alerts through visual indicators and audible alarms</a:t>
            </a:r>
            <a:endParaRPr lang="en-US" b="1" dirty="0" smtClean="0">
              <a:latin typeface="Bell MT" panose="02020503060305020303" pitchFamily="18" charset="0"/>
            </a:endParaRPr>
          </a:p>
          <a:p>
            <a:endParaRPr lang="en-US" dirty="0"/>
          </a:p>
          <a:p>
            <a:endParaRPr lang="en-US" dirty="0"/>
          </a:p>
        </p:txBody>
      </p:sp>
      <p:sp>
        <p:nvSpPr>
          <p:cNvPr id="7" name="Rectangle 6"/>
          <p:cNvSpPr/>
          <p:nvPr/>
        </p:nvSpPr>
        <p:spPr>
          <a:xfrm>
            <a:off x="218306" y="4838104"/>
            <a:ext cx="7559675" cy="1200329"/>
          </a:xfrm>
          <a:prstGeom prst="rect">
            <a:avLst/>
          </a:prstGeom>
        </p:spPr>
        <p:txBody>
          <a:bodyPr>
            <a:spAutoFit/>
          </a:bodyPr>
          <a:lstStyle/>
          <a:p>
            <a:r>
              <a:rPr lang="en-IN" dirty="0">
                <a:latin typeface="Bell MT" panose="02020503060305020303" pitchFamily="18" charset="0"/>
              </a:rPr>
              <a:t>This project aims to design and implement an </a:t>
            </a:r>
            <a:r>
              <a:rPr lang="en-IN" dirty="0" err="1">
                <a:latin typeface="Bell MT" panose="02020503060305020303" pitchFamily="18" charset="0"/>
              </a:rPr>
              <a:t>Arduino</a:t>
            </a:r>
            <a:r>
              <a:rPr lang="en-IN" dirty="0">
                <a:latin typeface="Bell MT" panose="02020503060305020303" pitchFamily="18" charset="0"/>
              </a:rPr>
              <a:t>-based Multi-Hazard Early Warning and Alert System that can simultaneously detect fire, hazardous gases, rising water levels, and abnormal </a:t>
            </a:r>
            <a:r>
              <a:rPr lang="en-IN" dirty="0" err="1" smtClean="0">
                <a:latin typeface="Bell MT" panose="02020503060305020303" pitchFamily="18" charset="0"/>
              </a:rPr>
              <a:t>vibrations.Main</a:t>
            </a:r>
            <a:r>
              <a:rPr lang="en-IN" dirty="0" smtClean="0">
                <a:latin typeface="Bell MT" panose="02020503060305020303" pitchFamily="18" charset="0"/>
              </a:rPr>
              <a:t> objective to </a:t>
            </a:r>
            <a:r>
              <a:rPr lang="en-IN" dirty="0" err="1" smtClean="0">
                <a:latin typeface="Bell MT" panose="02020503060305020303" pitchFamily="18" charset="0"/>
              </a:rPr>
              <a:t>to</a:t>
            </a:r>
            <a:r>
              <a:rPr lang="en-IN" dirty="0" smtClean="0">
                <a:latin typeface="Bell MT" panose="02020503060305020303" pitchFamily="18" charset="0"/>
              </a:rPr>
              <a:t> provide a safe living to our beloved citizens. </a:t>
            </a:r>
            <a:endParaRPr lang="en-IN" dirty="0">
              <a:latin typeface="Bell MT" panose="02020503060305020303" pitchFamily="18" charset="0"/>
            </a:endParaRPr>
          </a:p>
        </p:txBody>
      </p:sp>
      <p:sp>
        <p:nvSpPr>
          <p:cNvPr id="12" name="Rectangle 11"/>
          <p:cNvSpPr/>
          <p:nvPr/>
        </p:nvSpPr>
        <p:spPr>
          <a:xfrm>
            <a:off x="122815" y="7138088"/>
            <a:ext cx="7559675" cy="4247317"/>
          </a:xfrm>
          <a:prstGeom prst="rect">
            <a:avLst/>
          </a:prstGeom>
        </p:spPr>
        <p:txBody>
          <a:bodyPr>
            <a:spAutoFit/>
          </a:bodyPr>
          <a:lstStyle/>
          <a:p>
            <a:r>
              <a:rPr lang="en-IN" b="1" dirty="0">
                <a:solidFill>
                  <a:srgbClr val="FF0000"/>
                </a:solidFill>
                <a:latin typeface="Bell MT" panose="02020503060305020303" pitchFamily="18" charset="0"/>
              </a:rPr>
              <a:t>Water Level Detection</a:t>
            </a:r>
            <a:endParaRPr lang="en-US" dirty="0">
              <a:solidFill>
                <a:srgbClr val="FF0000"/>
              </a:solidFill>
              <a:latin typeface="Bell MT" panose="02020503060305020303" pitchFamily="18" charset="0"/>
            </a:endParaRPr>
          </a:p>
          <a:p>
            <a:r>
              <a:rPr lang="en-IN" dirty="0">
                <a:latin typeface="Bell MT" panose="02020503060305020303" pitchFamily="18" charset="0"/>
              </a:rPr>
              <a:t>Water levels in the containment vessel were raised gradually. With each incremental rise of the water level, the sensor registered an increase in the sensor output, and the buzzer sounded an alarm when the threshold was exceeded. An SMS message was created.</a:t>
            </a:r>
            <a:endParaRPr lang="en-US" dirty="0">
              <a:latin typeface="Bell MT" panose="02020503060305020303" pitchFamily="18" charset="0"/>
            </a:endParaRPr>
          </a:p>
          <a:p>
            <a:r>
              <a:rPr lang="en-IN" dirty="0">
                <a:latin typeface="Bell MT" panose="02020503060305020303" pitchFamily="18" charset="0"/>
              </a:rPr>
              <a:t> </a:t>
            </a:r>
            <a:r>
              <a:rPr lang="en-IN" b="1" dirty="0">
                <a:solidFill>
                  <a:srgbClr val="FF0000"/>
                </a:solidFill>
                <a:latin typeface="Bell MT" panose="02020503060305020303" pitchFamily="18" charset="0"/>
              </a:rPr>
              <a:t>Vibration Detection</a:t>
            </a:r>
            <a:endParaRPr lang="en-US" dirty="0">
              <a:solidFill>
                <a:srgbClr val="FF0000"/>
              </a:solidFill>
              <a:latin typeface="Bell MT" panose="02020503060305020303" pitchFamily="18" charset="0"/>
            </a:endParaRPr>
          </a:p>
          <a:p>
            <a:r>
              <a:rPr lang="en-IN" dirty="0">
                <a:latin typeface="Bell MT" panose="02020503060305020303" pitchFamily="18" charset="0"/>
              </a:rPr>
              <a:t>To simulate the effects of minor vibrations the sensor was subjected to gentle tapping and gentle shakes. Each time a gentle tap/shake was applied to the sensor, it was easily detected as sudden movement by the vibration sensor. As a result, the </a:t>
            </a:r>
            <a:r>
              <a:rPr lang="en-IN" dirty="0" err="1">
                <a:latin typeface="Bell MT" panose="02020503060305020303" pitchFamily="18" charset="0"/>
              </a:rPr>
              <a:t>Arduino</a:t>
            </a:r>
            <a:r>
              <a:rPr lang="en-IN" dirty="0">
                <a:latin typeface="Bell MT" panose="02020503060305020303" pitchFamily="18" charset="0"/>
              </a:rPr>
              <a:t> was activated and generated an alert.</a:t>
            </a:r>
            <a:endParaRPr lang="en-US" dirty="0">
              <a:latin typeface="Bell MT" panose="02020503060305020303" pitchFamily="18" charset="0"/>
            </a:endParaRPr>
          </a:p>
          <a:p>
            <a:r>
              <a:rPr lang="en-IN" dirty="0">
                <a:latin typeface="Bell MT" panose="02020503060305020303" pitchFamily="18" charset="0"/>
              </a:rPr>
              <a:t> </a:t>
            </a:r>
            <a:r>
              <a:rPr lang="en-IN" b="1" dirty="0">
                <a:solidFill>
                  <a:srgbClr val="FF0000"/>
                </a:solidFill>
                <a:latin typeface="Bell MT" panose="02020503060305020303" pitchFamily="18" charset="0"/>
              </a:rPr>
              <a:t>Humidity and Temperature Detection</a:t>
            </a:r>
            <a:endParaRPr lang="en-US" dirty="0">
              <a:solidFill>
                <a:srgbClr val="FF0000"/>
              </a:solidFill>
              <a:latin typeface="Bell MT" panose="02020503060305020303" pitchFamily="18" charset="0"/>
            </a:endParaRPr>
          </a:p>
          <a:p>
            <a:r>
              <a:rPr lang="en-IN" dirty="0">
                <a:latin typeface="Bell MT" panose="02020503060305020303" pitchFamily="18" charset="0"/>
              </a:rPr>
              <a:t>The sensor was placed into a warmer area and subsequently into a cooler area. There were corresponding changes in temperature and humidity output from the sensor for each test.</a:t>
            </a:r>
            <a:endParaRPr lang="en-US" dirty="0">
              <a:latin typeface="Bell MT" panose="02020503060305020303" pitchFamily="18" charset="0"/>
            </a:endParaRPr>
          </a:p>
          <a:p>
            <a:r>
              <a:rPr lang="en-IN" dirty="0">
                <a:latin typeface="Bell MT" panose="02020503060305020303" pitchFamily="18" charset="0"/>
              </a:rPr>
              <a:t> </a:t>
            </a:r>
            <a:endParaRPr lang="en-US" dirty="0">
              <a:latin typeface="Bell MT" panose="02020503060305020303" pitchFamily="18" charset="0"/>
            </a:endParaRPr>
          </a:p>
        </p:txBody>
      </p:sp>
      <p:sp>
        <p:nvSpPr>
          <p:cNvPr id="53" name="Rectangle 52"/>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54" name="Rectangle 53"/>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18" name="Rectangle 8"/>
          <p:cNvSpPr>
            <a:spLocks noChangeArrowheads="1"/>
          </p:cNvSpPr>
          <p:nvPr/>
        </p:nvSpPr>
        <p:spPr bwMode="auto">
          <a:xfrm>
            <a:off x="91439" y="10864051"/>
            <a:ext cx="7519947"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Tx/>
              <a:tabLst/>
            </a:pPr>
            <a:r>
              <a:rPr kumimoji="0" lang="en-US" sz="20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                            Software Implementation</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Arduino</a:t>
            </a:r>
            <a:r>
              <a:rPr kumimoji="0" lang="en-US" sz="18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 IDE</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Arduino</a:t>
            </a:r>
            <a:r>
              <a:rPr kumimoji="0" lang="en-US" sz="1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 IDE supports C/C++-based programming and allows you to upload code and monitor the serial output in real time.</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Sensor Data Reading</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Each sensor value is read periodically; fixed threshold values are defined for water level, vibration, temperature, Fire and humidity. When an individual reading passes the threshold value(s), the system enters alert mode.</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Alert Logic</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Flood alert if water level rises above threshold; earthquake alert if there is a spike in vibration; weather alert if temperature/humidity levels are above normal.</a:t>
            </a:r>
            <a:endParaRPr kumimoji="0" 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9"/>
          <p:cNvSpPr>
            <a:spLocks noChangeArrowheads="1"/>
          </p:cNvSpPr>
          <p:nvPr/>
        </p:nvSpPr>
        <p:spPr bwMode="auto">
          <a:xfrm>
            <a:off x="0" y="762000"/>
            <a:ext cx="15119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10"/>
          <p:cNvSpPr>
            <a:spLocks noChangeArrowheads="1"/>
          </p:cNvSpPr>
          <p:nvPr/>
        </p:nvSpPr>
        <p:spPr bwMode="auto">
          <a:xfrm>
            <a:off x="0" y="1066800"/>
            <a:ext cx="15119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20"/>
          <p:cNvSpPr/>
          <p:nvPr/>
        </p:nvSpPr>
        <p:spPr>
          <a:xfrm>
            <a:off x="176961" y="16745915"/>
            <a:ext cx="7559675" cy="3416320"/>
          </a:xfrm>
          <a:prstGeom prst="rect">
            <a:avLst/>
          </a:prstGeom>
        </p:spPr>
        <p:txBody>
          <a:bodyPr>
            <a:spAutoFit/>
          </a:bodyPr>
          <a:lstStyle/>
          <a:p>
            <a:r>
              <a:rPr lang="en-IN" b="1" dirty="0" smtClean="0"/>
              <a:t>1.Arduino UNO</a:t>
            </a:r>
          </a:p>
          <a:p>
            <a:endParaRPr lang="en-IN" b="1" dirty="0"/>
          </a:p>
          <a:p>
            <a:r>
              <a:rPr lang="en-IN" b="1" dirty="0" smtClean="0"/>
              <a:t>2.Water </a:t>
            </a:r>
            <a:r>
              <a:rPr lang="en-IN" b="1" dirty="0"/>
              <a:t>Level </a:t>
            </a:r>
            <a:r>
              <a:rPr lang="en-IN" b="1" dirty="0" smtClean="0"/>
              <a:t>Sensor</a:t>
            </a:r>
          </a:p>
          <a:p>
            <a:r>
              <a:rPr lang="en-IN" b="1" dirty="0" smtClean="0"/>
              <a:t> </a:t>
            </a:r>
            <a:endParaRPr lang="en-US" dirty="0"/>
          </a:p>
          <a:p>
            <a:r>
              <a:rPr lang="en-IN" b="1" dirty="0" smtClean="0"/>
              <a:t>3.Vibration </a:t>
            </a:r>
            <a:r>
              <a:rPr lang="en-IN" b="1" dirty="0"/>
              <a:t>Sensor (SW-420</a:t>
            </a:r>
            <a:r>
              <a:rPr lang="en-IN" b="1" dirty="0" smtClean="0"/>
              <a:t>)</a:t>
            </a:r>
          </a:p>
          <a:p>
            <a:endParaRPr lang="en-IN" b="1" dirty="0"/>
          </a:p>
          <a:p>
            <a:r>
              <a:rPr lang="en-IN" b="1" dirty="0" smtClean="0"/>
              <a:t>4.Temperature </a:t>
            </a:r>
            <a:r>
              <a:rPr lang="en-IN" b="1" dirty="0"/>
              <a:t>&amp; Humidity Sensor (DHT11/DHT22</a:t>
            </a:r>
            <a:r>
              <a:rPr lang="en-IN" b="1" dirty="0" smtClean="0"/>
              <a:t>)</a:t>
            </a:r>
          </a:p>
          <a:p>
            <a:endParaRPr lang="en-IN" b="1" dirty="0"/>
          </a:p>
          <a:p>
            <a:r>
              <a:rPr lang="en-IN" b="1" dirty="0" smtClean="0"/>
              <a:t>5.Buzzer </a:t>
            </a:r>
            <a:r>
              <a:rPr lang="en-IN" b="1" dirty="0"/>
              <a:t>and LED </a:t>
            </a:r>
            <a:r>
              <a:rPr lang="en-IN" b="1" dirty="0" smtClean="0"/>
              <a:t>Indicators</a:t>
            </a:r>
          </a:p>
          <a:p>
            <a:endParaRPr lang="en-IN" b="1" dirty="0"/>
          </a:p>
          <a:p>
            <a:r>
              <a:rPr lang="en-IN" b="1" dirty="0" smtClean="0"/>
              <a:t>6.Power </a:t>
            </a:r>
            <a:r>
              <a:rPr lang="en-IN" b="1" dirty="0"/>
              <a:t>Supply</a:t>
            </a:r>
            <a:endParaRPr lang="en-US" dirty="0"/>
          </a:p>
          <a:p>
            <a:r>
              <a:rPr lang="en-IN" dirty="0"/>
              <a:t>A 9V battery or USB power is used to power </a:t>
            </a:r>
            <a:r>
              <a:rPr lang="en-IN" dirty="0" err="1"/>
              <a:t>Arduino</a:t>
            </a:r>
            <a:r>
              <a:rPr lang="en-IN" dirty="0"/>
              <a:t> and sensors.</a:t>
            </a:r>
            <a:endParaRPr lang="en-US" dirty="0"/>
          </a:p>
        </p:txBody>
      </p:sp>
      <p:pic>
        <p:nvPicPr>
          <p:cNvPr id="59" name="Content Placeholder 5"/>
          <p:cNvPicPr>
            <a:picLocks/>
          </p:cNvPicPr>
          <p:nvPr/>
        </p:nvPicPr>
        <p:blipFill>
          <a:blip r:embed="rId4"/>
          <a:stretch>
            <a:fillRect/>
          </a:stretch>
        </p:blipFill>
        <p:spPr>
          <a:xfrm>
            <a:off x="927848" y="14116361"/>
            <a:ext cx="6057900" cy="21063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518</TotalTime>
  <Words>770</Words>
  <Application>Microsoft Office PowerPoint</Application>
  <PresentationFormat>Custom</PresentationFormat>
  <Paragraphs>96</Paragraphs>
  <Slides>1</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Mangal</vt:lpstr>
      <vt:lpstr>Georgia</vt:lpstr>
      <vt:lpstr>Calibri</vt:lpstr>
      <vt:lpstr>Playfair Display</vt:lpstr>
      <vt:lpstr>Times New Roman</vt:lpstr>
      <vt:lpstr>Bell MT</vt:lpstr>
      <vt:lpstr>Comic Sans MS</vt:lpstr>
      <vt:lpstr>Arial</vt:lpstr>
      <vt:lpstr>Trebuchet MS</vt:lpstr>
      <vt:lpstr>Calibri Light</vt:lpstr>
      <vt:lpstr>Tahoma</vt:lpstr>
      <vt:lpstr>Algerian</vt:lpstr>
      <vt:lpstr>Office Theme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Admin</cp:lastModifiedBy>
  <cp:revision>36</cp:revision>
  <cp:lastPrinted>2024-01-29T05:31:42Z</cp:lastPrinted>
  <dcterms:created xsi:type="dcterms:W3CDTF">2020-07-26T16:54:19Z</dcterms:created>
  <dcterms:modified xsi:type="dcterms:W3CDTF">2025-12-15T18:19:46Z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1033-11.2.0.9453</vt:lpwstr>
  </property>
</Properties>
</file>